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660" y="4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大家好，今天我将为大家汇报我的课程设计项目——“基于边缘引导的BTS单目深度估计算法研究”。本次研究聚焦于机器视觉领域中的一个核心问题：如何从单张二维图像中精确恢复三维深度信息，并针对现有方法在物体边界处的“过平滑”问题提出了一种有效的改进方案。接下来，我将详细介绍我的研究背景、方法设计、实验结果以及未来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本次汇报将分为六个部分。首先，我会介绍单目深度估计的研究背景以及当前方法面临的挑战。接着，我会详细阐述我们选择的Baseline模型——BTS，并展示其复现性能。第三部分将深入分析BTS模型的瓶颈，并阐明我们的改进动机。第四部分是本次研究的核心，我将介绍我们提出的Edge-Guided BTS改进算法。第五部分将通过一系列实验来验证我们方法的有效性。最后，对整个研究工作进行总结并对未来方向进行展望。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现在我们进入第一部分：研究背景与问题分析。在这一部分，我们将探讨单目深度估计的重要性，分析当前主流方法面临的挑战，并明确我们本次研究要解决的核心问题。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目深度估计是计算机视觉的一项基础且核心的任务。它的目标是教会机器“看懂”三维世界，从一张普通的照片中推断出物体的远近。这项技术的价值巨大，它是自动驾驶中环境感知的基础，是增强现实中虚实融合的关键，也是机器人实现自主导航和操作的前提。此外，它还广泛应用于三维重建和手机摄影等领域，是连接二维图像与三维现实的桥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尽管深度学习取得了长足进步，但单目深度估计仍面临诸多挑战。首先是尺度模糊性，模型无法确定绝对距离。其次，也是最关键的，是边界细节的丢失和过平滑问题，如中间图片所示，模型在物体边缘处的预测非常模糊。此外，模型对纹理和光照变化敏感，且泛化能力有限。这些问题共同限制了深度估计技术的实际应用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研究正是针对这种“过平滑”现象。如右图所示，基线模型在处理瓶子和毛巾架的边缘时，深度过渡非常模糊。这背后的原因主要有两点：一是损失函数更关注全局误差，二是网络结构在提取特征时丢失了细节。因此，我们的核心研究目标就是：如何在不影响整体性能的前提下，让模型学会“看清”物体的边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接下来，我们进入第二部分。为了解决上述问题，我们首先选择了一个先进的Baseline模型——BTS，并对其进行了复现和性能分析，为后续的改进工作奠定基础。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选择的Baseline模型是BTS，它的核心创新在于引入了“局部平面指导”。如右图所示，模型在三个不同尺度上，不直接预测深度，而是预测每个小区域的平面参数，然后再计算深度。这种方法利用了“局部表面是平面”的几何先验，使得整体结构非常稳定。但这种平滑的假设，也导致它在物体边界处容易产生模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严格按照论文设置，在NYUv2和DIODE两个数据集上复现了BTS模型。实验结果如表所示，我们复现的性能与论文报告的结果非常接近，这证明了我们实验环境的正确性。这些数据将作为我们后续所有改进工作的性能基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在成功复现Baseline之后，我们进入第三部分，深入分析BTS模型的瓶颈，并阐述我们进行改进的核心动机。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TS模型的瓶颈在于其“局部平面”的假设，这使其天然地偏好平滑，从而牺牲了边界的锐利度。同时，网络结构本身也会导致边界信息的丢失。针对这一点，我们的改进动机非常明确：我们希望保留BTS强大的全局结构建模能力，同时给它增加一个“边界感知模块”，让它能专门处理好边缘细节。基于此，我们提出了Edge-Guided BTS方法。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现在，我们进入第四部分，也是本次研究的核心——详细介绍我们提出的改进算法：Edge-Guided BTS。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改进算法的总体结构图。可以看到，我们在原始BTS解码器的基础上，增加了三个关键部分：首先是一个轻量级的“边缘分支”，用于感知边界；其次是“边缘引导融合”模块，将边缘信息融入深度恢复流程；最后，我们设计了“边缘监督损失”，来指导边缘分支的学习。这三个组件协同工作，旨在增强模型的边界感知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我们详细看一下核心机制。如右图所示，我们从保留了丰富细节的浅层特征中提取边缘概率图。然后，通过一种叫做“乘性调制”的操作，将这个边缘图与深度特征融合，简单来说，就是在边缘位置“放大”特征信号，提醒网络重点关注。同时，我们设计了一种特殊的损失函数，让边缘分支学习的是真正的深度边界，而不是普通的图像边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理论介绍完毕，接下来进入第五部分，我们将通过一系列严格的实验来验证我们提出方法的有效性。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我们首先进行了对比实验。结果如表所示，无论是在室内场景的NYUv2数据集，还是在更复杂的DIODE数据集上，我们的Edge-Guided BTS模型在所有关键评估指标上都取得了优于原始BTS模型的结果。这直接证明了我们改进方法的有效性。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数字，我们更可以直观地看到效果。请看屏幕上的两组对比图。左边是NYUv2数据集的结果，右边是DIODE数据集的。在每一组中，中间是Baseline的预测，右边是我们改进模型的预测。大家可以清晰地看到，我们的模型在物体轮廓和边界处的细节明显更清晰，深度过渡更锐利，成功解决了“过平滑”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搞清楚性能提升到底来自哪里，我们做了消融实验。我们分别测试了只加边缘分支、只加边缘损失、以及完整模型的效果。结果发现，边缘监督损失是性能提升的核心，而完整模型总能取得最好的结果。这证明了我们设计的三个组件是协同工作的，缺一不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还对训练过程进行了可视化分析。从这两组训练曲线上可以看出，我们的模型收敛速度快，学习过程非常平滑稳定，并且最终性能很高，没有出现过拟合现象。这表明我们的模型具有良好的鲁棒性和泛化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最后，我们进入第六部分，对本次研究工作进行总结，并对未来可能的研究方向进行展望。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总结一下，本次研究我们提出了一种名为Edge-Guided BTS的改进方法。我们通过引入一个轻量级的边缘引导模块，成功地让模型学会了更好地处理边界细节。实验证明，我们的方法在多个数据集上都取得了显著的性能提升。并且通过消融实验，我们清晰地解释了性能提升的来源。整个项目完整地展示了从问题分析到模型改进的全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我们的工作也存在一些局限性，比如模型对不同数据集的参数敏感。未来，我们可以从几个方向继续探索：首先是模型轻量化，让算法能在手机等设备上实时运行；其次是研究更好的跨数据集泛化方法；最后，我们可以尝试将当前热门的Transformer架构与深度估计结合，探索新的可能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我的汇报到此结束，感谢各位老师和同学的聆听，欢迎大家批评指正。谢谢！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435100"/>
            <a:ext cx="8432800" cy="711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ctr">
              <a:lnSpc>
                <a:spcPct val="116666"/>
              </a:lnSpc>
              <a:spcBef>
                <a:spcPts val="375"/>
              </a:spcBef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机器视觉设计与实践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413000"/>
            <a:ext cx="8039100" cy="635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基于边缘引导的BTS单目深度估计算法研究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332535" y="3898900"/>
            <a:ext cx="1017465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50800" rIns="101600" bIns="508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汇报人</a:t>
            </a:r>
            <a:r>
              <a:rPr lang="en-US" sz="14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6477000" y="3898900"/>
            <a:ext cx="22860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4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陈庭宇 </a:t>
            </a:r>
            <a:r>
              <a:rPr lang="en-US" altLang="zh-CN" sz="14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230995210</a:t>
            </a:r>
            <a:endParaRPr lang="en-US" sz="1100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508B200D-C42A-47B3-4064-BF81EACC028F}"/>
              </a:ext>
            </a:extLst>
          </p:cNvPr>
          <p:cNvSpPr/>
          <p:nvPr/>
        </p:nvSpPr>
        <p:spPr>
          <a:xfrm>
            <a:off x="6477000" y="4310673"/>
            <a:ext cx="22860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2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人工智能</a:t>
            </a:r>
            <a:r>
              <a:rPr lang="en-US" altLang="zh-CN" sz="12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2302</a:t>
            </a:r>
            <a:r>
              <a:rPr lang="zh-CN" altLang="en-US" sz="12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班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04900" y="1689100"/>
            <a:ext cx="25019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ctr">
              <a:lnSpc>
                <a:spcPct val="116666"/>
              </a:lnSpc>
              <a:spcBef>
                <a:spcPts val="375"/>
              </a:spcBef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研究背景与问题分析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918200" y="1689100"/>
            <a:ext cx="25019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ctr">
              <a:lnSpc>
                <a:spcPct val="116666"/>
              </a:lnSpc>
              <a:spcBef>
                <a:spcPts val="375"/>
              </a:spcBef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瓶颈分析与动机阐述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429000" y="1689100"/>
            <a:ext cx="26797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ctr">
              <a:lnSpc>
                <a:spcPct val="116666"/>
              </a:lnSpc>
              <a:spcBef>
                <a:spcPts val="375"/>
              </a:spcBef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Baseline模型复现与性能分析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rot="5400000">
            <a:off x="-2857500" y="1765300"/>
            <a:ext cx="6731000" cy="161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ctr">
              <a:lnSpc>
                <a:spcPct val="116666"/>
              </a:lnSpc>
              <a:spcBef>
                <a:spcPts val="375"/>
              </a:spcBef>
              <a:defRPr/>
            </a:pPr>
            <a:r>
              <a:rPr lang="en-US" sz="7400" b="0" i="0" u="none" strike="noStrike">
                <a:solidFill>
                  <a:srgbClr val="434750"/>
                </a:solidFill>
                <a:latin typeface="微软雅黑"/>
                <a:ea typeface="微软雅黑"/>
                <a:cs typeface="微软雅黑"/>
                <a:sym typeface="微软雅黑"/>
              </a:rPr>
              <a:t>CONTENTS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" y="165100"/>
            <a:ext cx="8890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ctr">
              <a:lnSpc>
                <a:spcPct val="116666"/>
              </a:lnSpc>
              <a:spcBef>
                <a:spcPts val="375"/>
              </a:spcBef>
              <a:defRPr/>
            </a:pPr>
            <a:r>
              <a:rPr lang="en-US" sz="2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目 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04900" y="3276600"/>
            <a:ext cx="25019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ctr">
              <a:lnSpc>
                <a:spcPct val="116666"/>
              </a:lnSpc>
              <a:spcBef>
                <a:spcPts val="375"/>
              </a:spcBef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改进算法：Edge-Guided BTS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918200" y="3276600"/>
            <a:ext cx="25019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ctr">
              <a:lnSpc>
                <a:spcPct val="116666"/>
              </a:lnSpc>
              <a:spcBef>
                <a:spcPts val="375"/>
              </a:spcBef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总结与未来展望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17900" y="3276600"/>
            <a:ext cx="25019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ctr">
              <a:lnSpc>
                <a:spcPct val="116666"/>
              </a:lnSpc>
              <a:spcBef>
                <a:spcPts val="375"/>
              </a:spcBef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实验验证与多维评估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866900" y="876300"/>
            <a:ext cx="889000" cy="927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5400" b="1" i="0" u="none" strike="noStrike">
                <a:ln w="12700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262626"/>
                </a:solidFill>
                <a:effectLst>
                  <a:outerShdw dist="38100" dir="2700000" algn="tl" rotWithShape="0">
                    <a:srgbClr val="5B9BD5">
                      <a:alpha val="100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01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18000" y="876300"/>
            <a:ext cx="889000" cy="927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5400" b="1" i="0" u="none" strike="noStrike">
                <a:ln w="12700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262626"/>
                </a:solidFill>
                <a:effectLst>
                  <a:outerShdw dist="38100" dir="2700000" algn="tl" rotWithShape="0">
                    <a:srgbClr val="5B9BD5">
                      <a:alpha val="100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19900" y="876300"/>
            <a:ext cx="889000" cy="927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5400" b="1" i="0" u="none" strike="noStrike">
                <a:ln w="12700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262626"/>
                </a:solidFill>
                <a:effectLst>
                  <a:outerShdw dist="38100" dir="2700000" algn="tl" rotWithShape="0">
                    <a:srgbClr val="5B9BD5">
                      <a:alpha val="100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866900" y="2349500"/>
            <a:ext cx="889000" cy="927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5400" b="1" i="0" u="none" strike="noStrike">
                <a:ln w="12700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262626"/>
                </a:solidFill>
                <a:effectLst>
                  <a:outerShdw dist="38100" dir="2700000" algn="tl" rotWithShape="0">
                    <a:srgbClr val="5B9BD5">
                      <a:alpha val="100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18000" y="2349500"/>
            <a:ext cx="889000" cy="927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5400" b="1" i="0" u="none" strike="noStrike">
                <a:ln w="12700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262626"/>
                </a:solidFill>
                <a:effectLst>
                  <a:outerShdw dist="38100" dir="2700000" algn="tl" rotWithShape="0">
                    <a:srgbClr val="5B9BD5">
                      <a:alpha val="100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05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819900" y="2349500"/>
            <a:ext cx="889000" cy="927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5400" b="1" i="0" u="none" strike="noStrike">
                <a:ln w="12700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262626"/>
                </a:solidFill>
                <a:effectLst>
                  <a:outerShdw dist="38100" dir="2700000" algn="tl" rotWithShape="0">
                    <a:srgbClr val="5B9BD5">
                      <a:alpha val="100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73500" y="2921000"/>
            <a:ext cx="5308600" cy="76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D9D9D9">
                    <a:alpha val="80000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Research Background and Problem Analysis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816100" y="1016000"/>
            <a:ext cx="2146300" cy="2298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83333"/>
              </a:lnSpc>
              <a:defRPr/>
            </a:pPr>
            <a:r>
              <a:rPr lang="en-US" sz="10900" b="1" i="0" u="none" strike="noStrike">
                <a:solidFill>
                  <a:srgbClr val="FFFFFF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540000"/>
            <a:ext cx="3708400" cy="101600"/>
          </a:xfrm>
          <a:prstGeom prst="roundRect">
            <a:avLst>
              <a:gd name="adj" fmla="val 0"/>
            </a:avLst>
          </a:prstGeom>
          <a:solidFill>
            <a:srgbClr val="4347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873500" y="1397000"/>
            <a:ext cx="1016000" cy="482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50800" rIns="1016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FFFFFF">
                    <a:alpha val="9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PART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4953000" y="1397000"/>
            <a:ext cx="1016000" cy="482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50800" rIns="1016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D9D9D9"/>
                </a:solidFill>
                <a:latin typeface="微软雅黑"/>
                <a:ea typeface="微软雅黑"/>
                <a:cs typeface="微软雅黑"/>
                <a:sym typeface="微软雅黑"/>
              </a:rPr>
              <a:t>ONE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3873500" y="2032000"/>
            <a:ext cx="52070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研究背景与问题分析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7626" y="985715"/>
            <a:ext cx="2056486" cy="2056136"/>
          </a:xfrm>
          <a:custGeom>
            <a:avLst/>
            <a:gdLst/>
            <a:ahLst/>
            <a:cxnLst/>
            <a:rect l="l" t="t" r="r" b="b"/>
            <a:pathLst>
              <a:path w="2056486" h="2056136">
                <a:moveTo>
                  <a:pt x="0" y="0"/>
                </a:moveTo>
                <a:lnTo>
                  <a:pt x="2056486" y="0"/>
                </a:lnTo>
                <a:lnTo>
                  <a:pt x="2056486" y="2056136"/>
                </a:lnTo>
                <a:lnTo>
                  <a:pt x="0" y="205613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27000" dir="2700000" algn="bl" rotWithShape="0">
              <a:srgbClr val="E4EAFF">
                <a:alpha val="10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951926" y="1100015"/>
            <a:ext cx="1832458" cy="1832458"/>
          </a:xfrm>
          <a:custGeom>
            <a:avLst/>
            <a:gdLst/>
            <a:ahLst/>
            <a:cxnLst/>
            <a:rect l="l" t="t" r="r" b="b"/>
            <a:pathLst>
              <a:path w="1832458" h="1832458">
                <a:moveTo>
                  <a:pt x="0" y="0"/>
                </a:moveTo>
                <a:lnTo>
                  <a:pt x="1832458" y="0"/>
                </a:lnTo>
                <a:lnTo>
                  <a:pt x="1832458" y="1832458"/>
                </a:lnTo>
                <a:lnTo>
                  <a:pt x="0" y="1832458"/>
                </a:lnTo>
                <a:close/>
              </a:path>
            </a:pathLst>
          </a:custGeom>
          <a:solidFill>
            <a:srgbClr val="4347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209226" y="2357315"/>
            <a:ext cx="2056486" cy="2056136"/>
          </a:xfrm>
          <a:custGeom>
            <a:avLst/>
            <a:gdLst/>
            <a:ahLst/>
            <a:cxnLst/>
            <a:rect l="l" t="t" r="r" b="b"/>
            <a:pathLst>
              <a:path w="2056486" h="2056136">
                <a:moveTo>
                  <a:pt x="0" y="0"/>
                </a:moveTo>
                <a:lnTo>
                  <a:pt x="2056486" y="0"/>
                </a:lnTo>
                <a:lnTo>
                  <a:pt x="2056486" y="2056136"/>
                </a:lnTo>
                <a:lnTo>
                  <a:pt x="0" y="205613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27000" dir="2700000" algn="bl" rotWithShape="0">
              <a:srgbClr val="E4EAFF">
                <a:alpha val="10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4323526" y="2471615"/>
            <a:ext cx="1832775" cy="1832775"/>
          </a:xfrm>
          <a:custGeom>
            <a:avLst/>
            <a:gdLst/>
            <a:ahLst/>
            <a:cxnLst/>
            <a:rect l="l" t="t" r="r" b="b"/>
            <a:pathLst>
              <a:path w="1832775" h="1832775">
                <a:moveTo>
                  <a:pt x="0" y="0"/>
                </a:moveTo>
                <a:lnTo>
                  <a:pt x="1832775" y="0"/>
                </a:lnTo>
                <a:lnTo>
                  <a:pt x="1832775" y="1832775"/>
                </a:lnTo>
                <a:lnTo>
                  <a:pt x="0" y="1832775"/>
                </a:lnTo>
                <a:close/>
              </a:path>
            </a:pathLst>
          </a:custGeom>
          <a:solidFill>
            <a:srgbClr val="B0C1D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" y="-12700"/>
            <a:ext cx="8610600" cy="711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16666"/>
              </a:lnSpc>
              <a:spcBef>
                <a:spcPts val="375"/>
              </a:spcBef>
              <a:defRPr/>
            </a:pPr>
            <a:r>
              <a:rPr lang="en-US" sz="27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单目深度估计：计算机视觉的核心基石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34768" y="905608"/>
            <a:ext cx="2551235" cy="369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什么是单目深度估计</a:t>
            </a:r>
            <a:r>
              <a:rPr lang="en-US" sz="16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？</a:t>
            </a:r>
            <a:endParaRPr lang="en-US" sz="1100" dirty="0"/>
          </a:p>
          <a:p>
            <a:pPr>
              <a:lnSpc>
                <a:spcPct val="108333"/>
              </a:lnSpc>
            </a:pPr>
            <a:r>
              <a:rPr lang="zh-CN" altLang="en-US" dirty="0"/>
              <a:t>单目深度估计（</a:t>
            </a:r>
            <a:r>
              <a:rPr lang="en-US" altLang="zh-CN" dirty="0"/>
              <a:t>Monocular Depth Estimation</a:t>
            </a:r>
            <a:r>
              <a:rPr lang="zh-CN" altLang="en-US" dirty="0"/>
              <a:t>）是指从单张</a:t>
            </a:r>
            <a:r>
              <a:rPr lang="en-US" altLang="zh-CN" dirty="0"/>
              <a:t>RGB</a:t>
            </a:r>
            <a:r>
              <a:rPr lang="zh-CN" altLang="en-US" dirty="0"/>
              <a:t>图像中推断并重建场景的像素级深度图，实现从二维图像到三维空间信息的映射。</a:t>
            </a:r>
            <a:endParaRPr lang="en-US" altLang="zh-CN" dirty="0"/>
          </a:p>
          <a:p>
            <a:pPr>
              <a:lnSpc>
                <a:spcPct val="108333"/>
              </a:lnSpc>
            </a:pPr>
            <a:endParaRPr lang="en-US" sz="1600" b="1" i="0" u="none" strike="noStrike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>
              <a:lnSpc>
                <a:spcPct val="108333"/>
              </a:lnSpc>
            </a:pPr>
            <a:r>
              <a:rPr lang="en-US" sz="16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核心价值</a:t>
            </a:r>
            <a:endParaRPr lang="en-US" sz="1600" b="1" i="0" u="none" strike="noStrike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>
              <a:lnSpc>
                <a:spcPct val="108333"/>
              </a:lnSpc>
            </a:pPr>
            <a:r>
              <a:rPr lang="zh-CN" altLang="en-US" dirty="0"/>
              <a:t>作为三维视觉感知的核心技术，单目深度估计为智能系统提供场景几何理解能力，是机器人导航、自动驾驶、增强现实等应用实现环境感知与空间推理的基础支撑。</a:t>
            </a:r>
            <a:endParaRPr lang="en-US" sz="1300" b="0" i="0" u="none" strike="noStrike" dirty="0">
              <a:solidFill>
                <a:srgbClr val="1F232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951926" y="1747715"/>
            <a:ext cx="19431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定义与核心价值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17336" y="511974"/>
            <a:ext cx="2806700" cy="44073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广泛应用场景</a:t>
            </a:r>
            <a:endParaRPr lang="en-US" sz="1100" dirty="0"/>
          </a:p>
          <a:p>
            <a:pPr>
              <a:spcBef>
                <a:spcPts val="600"/>
              </a:spcBef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🚗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自动驾驶</a:t>
            </a: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zh-CN" altLang="en-US" sz="1200" dirty="0">
                <a:solidFill>
                  <a:schemeClr val="accent3">
                    <a:lumMod val="50000"/>
                  </a:schemeClr>
                </a:solidFill>
              </a:rPr>
              <a:t>实时获取场景深度信息以进行障碍物检测与距离估计，为路径规划与决策系统提供关键的环境感知数据。</a:t>
            </a:r>
            <a:endParaRPr lang="en-US" sz="1200" b="0" i="0" u="none" strike="noStrike" dirty="0">
              <a:solidFill>
                <a:schemeClr val="accent3">
                  <a:lumMod val="50000"/>
                </a:schemeClr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>
              <a:spcBef>
                <a:spcPts val="600"/>
              </a:spcBef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🎮 AR/VR：</a:t>
            </a:r>
            <a:r>
              <a:rPr lang="zh-CN" altLang="en-US" sz="1200" dirty="0">
                <a:solidFill>
                  <a:schemeClr val="accent3">
                    <a:lumMod val="50000"/>
                  </a:schemeClr>
                </a:solidFill>
              </a:rPr>
              <a:t>提供场景几何结构信息，实现虚拟内容与真实环境的精确配准、遮挡关系处理及物理交互，提升虚实融合的真实感。</a:t>
            </a:r>
            <a:endParaRPr lang="en-US" altLang="zh-CN" sz="1200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🤖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机器人导航</a:t>
            </a: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zh-CN" altLang="en-US" sz="1200" dirty="0">
                <a:solidFill>
                  <a:schemeClr val="accent3">
                    <a:lumMod val="50000"/>
                  </a:schemeClr>
                </a:solidFill>
              </a:rPr>
              <a:t>为移动机器人提供环境三维结构信息，支撑避障规划、</a:t>
            </a:r>
            <a:r>
              <a:rPr lang="en-US" altLang="zh-CN" sz="1200" dirty="0">
                <a:solidFill>
                  <a:schemeClr val="accent3">
                    <a:lumMod val="50000"/>
                  </a:schemeClr>
                </a:solidFill>
              </a:rPr>
              <a:t>SLAM</a:t>
            </a:r>
            <a:r>
              <a:rPr lang="zh-CN" altLang="en-US" sz="1200" dirty="0">
                <a:solidFill>
                  <a:schemeClr val="accent3">
                    <a:lumMod val="50000"/>
                  </a:schemeClr>
                </a:solidFill>
              </a:rPr>
              <a:t>定位及机械臂抓取等任务的三维空间理解需求。</a:t>
            </a:r>
            <a:endParaRPr lang="en-US" altLang="zh-CN" sz="1200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🏛️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三维重建</a:t>
            </a: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zh-CN" altLang="en-US" sz="1200" dirty="0">
                <a:solidFill>
                  <a:schemeClr val="accent3">
                    <a:lumMod val="50000"/>
                  </a:schemeClr>
                </a:solidFill>
              </a:rPr>
              <a:t>从单目图像序列重建场景三维模型，应用于数字孪生系统、文化遗产数字化保存及大规模城市场景建模。</a:t>
            </a:r>
            <a:endParaRPr lang="en-US" altLang="zh-CN" sz="1200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📸 </a:t>
            </a:r>
            <a:r>
              <a:rPr lang="en-US" sz="12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计算摄影</a:t>
            </a:r>
            <a:r>
              <a:rPr lang="en-US" sz="12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zh-CN" altLang="en-US" sz="1200" dirty="0">
                <a:solidFill>
                  <a:schemeClr val="accent3">
                    <a:lumMod val="50000"/>
                  </a:schemeClr>
                </a:solidFill>
              </a:rPr>
              <a:t>基于深度信息实现景深效果模拟、焦点重定向、三维感图像编辑等计算摄影功能</a:t>
            </a:r>
            <a:r>
              <a:rPr lang="zh-CN" altLang="en-US" dirty="0"/>
              <a:t>。</a:t>
            </a:r>
            <a:endParaRPr lang="en-US" sz="1200" b="0" i="0" u="none" strike="noStrike" dirty="0">
              <a:solidFill>
                <a:srgbClr val="50505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10826" y="3182815"/>
            <a:ext cx="19431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3252D"/>
                </a:solidFill>
                <a:latin typeface="微软雅黑"/>
                <a:ea typeface="微软雅黑"/>
                <a:cs typeface="微软雅黑"/>
                <a:sym typeface="微软雅黑"/>
              </a:rPr>
              <a:t>五大关键应用领域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99201" y="753206"/>
            <a:ext cx="2590799" cy="4135315"/>
          </a:xfrm>
          <a:prstGeom prst="roundRect">
            <a:avLst>
              <a:gd name="adj" fmla="val 5769"/>
            </a:avLst>
          </a:prstGeom>
          <a:solidFill>
            <a:srgbClr val="EBEE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72250" y="840642"/>
            <a:ext cx="2368446" cy="1798271"/>
          </a:xfrm>
          <a:prstGeom prst="roundRect">
            <a:avLst>
              <a:gd name="adj" fmla="val 8178"/>
            </a:avLst>
          </a:prstGeom>
          <a:solidFill>
            <a:srgbClr val="1F232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717799" y="682626"/>
            <a:ext cx="3467100" cy="1956288"/>
          </a:xfrm>
          <a:prstGeom prst="roundRect">
            <a:avLst>
              <a:gd name="adj" fmla="val 5720"/>
            </a:avLst>
          </a:prstGeom>
          <a:solidFill>
            <a:srgbClr val="33373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127000" dir="54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72250" y="70938"/>
            <a:ext cx="3772877" cy="497741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现有方法的挑战与局限性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381001" y="1029895"/>
            <a:ext cx="1828311" cy="4127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F39C12"/>
                </a:solidFill>
                <a:latin typeface="微软雅黑"/>
                <a:ea typeface="微软雅黑"/>
                <a:cs typeface="微软雅黑"/>
                <a:sym typeface="微软雅黑"/>
              </a:rPr>
              <a:t>01 </a:t>
            </a:r>
            <a:r>
              <a:rPr lang="en-US" sz="1800" b="1" i="0" u="none" strike="noStrike" dirty="0" err="1">
                <a:solidFill>
                  <a:srgbClr val="F39C12"/>
                </a:solidFill>
                <a:latin typeface="微软雅黑"/>
                <a:ea typeface="微软雅黑"/>
                <a:cs typeface="微软雅黑"/>
                <a:sym typeface="微软雅黑"/>
              </a:rPr>
              <a:t>尺度</a:t>
            </a:r>
            <a:r>
              <a:rPr lang="zh-CN" altLang="en-US" sz="1800" b="1" i="0" u="none" strike="noStrike" dirty="0">
                <a:solidFill>
                  <a:srgbClr val="F39C12"/>
                </a:solidFill>
                <a:latin typeface="微软雅黑"/>
                <a:ea typeface="微软雅黑"/>
                <a:cs typeface="微软雅黑"/>
                <a:sym typeface="微软雅黑"/>
              </a:rPr>
              <a:t>不确定</a:t>
            </a:r>
            <a:r>
              <a:rPr lang="en-US" sz="1800" b="1" i="0" u="none" strike="noStrike" dirty="0">
                <a:solidFill>
                  <a:srgbClr val="F39C12"/>
                </a:solidFill>
                <a:latin typeface="微软雅黑"/>
                <a:ea typeface="微软雅黑"/>
                <a:cs typeface="微软雅黑"/>
                <a:sym typeface="微软雅黑"/>
              </a:rPr>
              <a:t>性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328735" y="1338874"/>
            <a:ext cx="2119924" cy="128416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chemeClr val="bg1"/>
                </a:solidFill>
              </a:rPr>
              <a:t>单目视觉缺乏绝对深度参照，属于病态问题（</a:t>
            </a:r>
            <a:r>
              <a:rPr lang="en-US" altLang="zh-CN" sz="1100" dirty="0">
                <a:solidFill>
                  <a:schemeClr val="bg1"/>
                </a:solidFill>
              </a:rPr>
              <a:t>Ill-posed Problem</a:t>
            </a:r>
            <a:r>
              <a:rPr lang="zh-CN" altLang="en-US" sz="1100" dirty="0">
                <a:solidFill>
                  <a:schemeClr val="bg1"/>
                </a:solidFill>
              </a:rPr>
              <a:t>），模型难以解耦物体真实尺寸与相机距离，易产生全局比例偏差。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871176" y="972039"/>
            <a:ext cx="3213100" cy="1401884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700" b="1" i="0" u="none" strike="noStrike" dirty="0">
                <a:solidFill>
                  <a:srgbClr val="F39C12"/>
                </a:solidFill>
                <a:latin typeface="微软雅黑"/>
                <a:ea typeface="微软雅黑"/>
                <a:cs typeface="微软雅黑"/>
                <a:sym typeface="微软雅黑"/>
              </a:rPr>
              <a:t>02 </a:t>
            </a:r>
            <a:r>
              <a:rPr lang="en-US" sz="1700" b="1" i="0" u="none" strike="noStrike" dirty="0" err="1">
                <a:solidFill>
                  <a:srgbClr val="F39C12"/>
                </a:solidFill>
                <a:latin typeface="微软雅黑"/>
                <a:ea typeface="微软雅黑"/>
                <a:cs typeface="微软雅黑"/>
                <a:sym typeface="微软雅黑"/>
              </a:rPr>
              <a:t>边界过平滑</a:t>
            </a:r>
            <a:r>
              <a:rPr lang="zh-CN" altLang="en-US" sz="1700" b="1" i="0" u="none" strike="noStrike" dirty="0">
                <a:solidFill>
                  <a:srgbClr val="F39C12"/>
                </a:solidFill>
                <a:latin typeface="微软雅黑"/>
                <a:ea typeface="微软雅黑"/>
                <a:cs typeface="微软雅黑"/>
                <a:sym typeface="微软雅黑"/>
              </a:rPr>
              <a:t>与高频细节丢失</a:t>
            </a:r>
            <a:endParaRPr lang="en-US" sz="1100" dirty="0"/>
          </a:p>
          <a:p>
            <a:pPr indent="0" algn="just">
              <a:lnSpc>
                <a:spcPct val="116666"/>
              </a:lnSpc>
            </a:pPr>
            <a:endParaRPr lang="en-US" sz="1200" b="0" i="0" u="none" strike="noStrike" dirty="0">
              <a:solidFill>
                <a:srgbClr val="EBEEF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just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EBEEF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模型在物体轮廓、遮挡边界等深度突变区域，难以捕捉精细的边缘信息，导致预测结果过于平滑和模糊，严重降低了深度图的可用性</a:t>
            </a:r>
            <a:r>
              <a:rPr lang="en-US" sz="1200" b="0" i="0" u="none" strike="noStrike" dirty="0">
                <a:solidFill>
                  <a:srgbClr val="EBEEF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zh-CN" altLang="en-US" sz="1200" dirty="0">
                <a:solidFill>
                  <a:srgbClr val="EBEEF1"/>
                </a:solidFill>
                <a:latin typeface="Noto Sans SC"/>
                <a:ea typeface="Noto Sans SC"/>
                <a:cs typeface="Noto Sans SC"/>
                <a:sym typeface="Noto Sans SC"/>
              </a:rPr>
              <a:t>现有主流方法（如</a:t>
            </a:r>
            <a:r>
              <a:rPr lang="en-US" altLang="zh-CN" sz="1200" dirty="0">
                <a:solidFill>
                  <a:srgbClr val="EBEEF1"/>
                </a:solidFill>
                <a:latin typeface="Noto Sans SC"/>
                <a:ea typeface="Noto Sans SC"/>
                <a:cs typeface="Noto Sans SC"/>
                <a:sym typeface="Noto Sans SC"/>
              </a:rPr>
              <a:t>BTS</a:t>
            </a:r>
            <a:r>
              <a:rPr lang="zh-CN" altLang="en-US" sz="1200" dirty="0">
                <a:solidFill>
                  <a:srgbClr val="EBEEF1"/>
                </a:solidFill>
                <a:latin typeface="Noto Sans SC"/>
                <a:ea typeface="Noto Sans SC"/>
                <a:cs typeface="Noto Sans SC"/>
                <a:sym typeface="Noto Sans SC"/>
              </a:rPr>
              <a:t>）受限于全局回归损失，倾向于优化大面积平滑区域，导致物体轮廓模糊、遮挡边界混叠及细小结构丢失。</a:t>
            </a:r>
            <a:endParaRPr lang="en-US" sz="1200" b="0" i="0" u="none" strike="noStrike" dirty="0">
              <a:solidFill>
                <a:srgbClr val="EBEEF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362002" y="840643"/>
            <a:ext cx="2400997" cy="498231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03 </a:t>
            </a:r>
            <a:r>
              <a:rPr lang="zh-CN" altLang="en-US" sz="1600" b="1" i="0" u="none" strike="noStrike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复杂场景下泛化瓶颈</a:t>
            </a:r>
            <a:endParaRPr lang="en-US" sz="1600" dirty="0"/>
          </a:p>
        </p:txBody>
      </p:sp>
      <p:sp>
        <p:nvSpPr>
          <p:cNvPr id="11" name="AutoShape 11"/>
          <p:cNvSpPr/>
          <p:nvPr/>
        </p:nvSpPr>
        <p:spPr>
          <a:xfrm>
            <a:off x="6414268" y="1296134"/>
            <a:ext cx="2400997" cy="1570647"/>
          </a:xfrm>
          <a:prstGeom prst="roundRect">
            <a:avLst>
              <a:gd name="adj" fmla="val 11111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70" y="1520772"/>
            <a:ext cx="2249295" cy="1221614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● </a:t>
            </a:r>
            <a:r>
              <a:rPr lang="en-US" sz="1300" b="1" i="0" u="none" strike="noStrike" dirty="0" err="1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对纹理和光照敏感</a:t>
            </a:r>
            <a:endParaRPr lang="en-US" sz="1300" b="1" i="0" u="none" strike="noStrike" dirty="0">
              <a:solidFill>
                <a:srgbClr val="E74C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  <a:sym typeface="微软雅黑"/>
            </a:endParaRPr>
          </a:p>
          <a:p>
            <a:pPr indent="0" algn="l">
              <a:lnSpc>
                <a:spcPct val="100000"/>
              </a:lnSpc>
              <a:defRPr/>
            </a:pP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>
              <a:lnSpc>
                <a:spcPct val="100000"/>
              </a:lnSpc>
            </a:pPr>
            <a:r>
              <a:rPr lang="en-US" sz="1100" b="0" i="0" u="none" strike="noStrike" dirty="0" err="1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在无纹理墙面或逆光等光照不佳的场景中，模型难以提取足够的判别线索，容易产生大量噪声或错误预测</a:t>
            </a:r>
            <a:r>
              <a:rPr lang="en-US" sz="1100" b="0" i="0" u="none" strike="noStrike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414268" y="2993781"/>
            <a:ext cx="2400997" cy="1453905"/>
          </a:xfrm>
          <a:prstGeom prst="roundRect">
            <a:avLst>
              <a:gd name="adj" fmla="val 11111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70" y="3081704"/>
            <a:ext cx="2249295" cy="1241587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● </a:t>
            </a:r>
            <a:r>
              <a:rPr lang="en-US" sz="1300" b="1" i="0" u="none" strike="noStrike" dirty="0" err="1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泛化能力有限</a:t>
            </a:r>
            <a:endParaRPr lang="en-US" sz="1300" b="1" i="0" u="none" strike="noStrike" dirty="0">
              <a:solidFill>
                <a:srgbClr val="3498D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  <a:sym typeface="微软雅黑"/>
            </a:endParaRPr>
          </a:p>
          <a:p>
            <a:pPr indent="0" algn="l">
              <a:lnSpc>
                <a:spcPct val="100000"/>
              </a:lnSpc>
              <a:defRPr/>
            </a:pP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模型在训练集分布内表现良好，但在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弱纹理区域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跨域场景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（如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DIODE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中的室外复杂环境）中，特征提取困难，鲁棒性与泛化能力受限。</a:t>
            </a:r>
            <a:endParaRPr lang="en-US" sz="1100" b="0" i="0" u="none" strike="noStrike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9334162-DD60-FAE1-2561-02C2DE2C94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0344"/>
          <a:stretch>
            <a:fillRect/>
          </a:stretch>
        </p:blipFill>
        <p:spPr>
          <a:xfrm>
            <a:off x="172250" y="2742386"/>
            <a:ext cx="4736891" cy="2359371"/>
          </a:xfrm>
          <a:prstGeom prst="rect">
            <a:avLst/>
          </a:pr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B9C85AAA-8925-D4C5-1949-EA27DCDE5F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7937559">
            <a:off x="4705039" y="2859618"/>
            <a:ext cx="1395265" cy="139526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F45023C5-C4D5-1A5E-2DCB-0B339A647E1A}"/>
              </a:ext>
            </a:extLst>
          </p:cNvPr>
          <p:cNvSpPr txBox="1"/>
          <p:nvPr/>
        </p:nvSpPr>
        <p:spPr>
          <a:xfrm>
            <a:off x="4477726" y="4522698"/>
            <a:ext cx="1476547" cy="43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zh-CN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原始单目深度估计在边界区域的典型误差示意图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" y="63500"/>
            <a:ext cx="5982188" cy="5402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7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核心问题：边界区域的“过平滑”现象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1372160" y="949377"/>
            <a:ext cx="1905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问题与根源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13104" y="1731597"/>
            <a:ext cx="4127500" cy="2667000"/>
          </a:xfrm>
          <a:prstGeom prst="roundRect">
            <a:avLst>
              <a:gd name="adj" fmla="val 4761"/>
            </a:avLst>
          </a:prstGeom>
          <a:solidFill>
            <a:schemeClr val="accent3">
              <a:lumMod val="40000"/>
              <a:lumOff val="60000"/>
              <a:alpha val="95000"/>
            </a:schemeClr>
          </a:solidFill>
          <a:ln w="12700" cap="flat" cmpd="sng">
            <a:noFill/>
            <a:prstDash val="solid"/>
            <a:round/>
          </a:ln>
          <a:effectLst>
            <a:outerShdw blurRad="139700" dist="88900" dir="4200000" sx="102000" sy="102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40104" y="1858597"/>
            <a:ext cx="3873500" cy="241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▍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现象描述</a:t>
            </a:r>
            <a:endParaRPr lang="en-US" sz="1100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6666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模型在物体轮廓、遮挡边界及深度突变区域，预测结果缺乏锐度，出现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模糊拖尾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前后景混叠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6666"/>
              </a:lnSpc>
            </a:pPr>
            <a:endParaRPr lang="en-US" sz="1400" b="1" i="0" u="none" strike="noStrike" dirty="0">
              <a:solidFill>
                <a:srgbClr val="1E40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  <a:sym typeface="微软雅黑"/>
            </a:endParaRPr>
          </a:p>
          <a:p>
            <a:pPr>
              <a:lnSpc>
                <a:spcPct val="116666"/>
              </a:lnSpc>
            </a:pPr>
            <a:r>
              <a:rPr lang="en-US" sz="1400" b="1" i="0" u="none" strike="noStrike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▍</a:t>
            </a:r>
            <a:r>
              <a:rPr lang="en-US" sz="1400" b="1" i="0" u="none" strike="noStrike" dirty="0" err="1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成因</a:t>
            </a:r>
            <a:r>
              <a:rPr lang="zh-CN" altLang="en-US" sz="1400" b="1" i="0" u="none" strike="noStrike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分析</a:t>
            </a:r>
            <a:endParaRPr lang="en-US" sz="1400" b="1" i="0" u="none" strike="noStrike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  <a:sym typeface="微软雅黑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优化目标偏差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：全局损失函数（如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SiLog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/L1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）优先最小化大面积区域的平均误差，导致边界高频细节被“平均化”。</a:t>
            </a:r>
          </a:p>
          <a:p>
            <a:pPr marL="171450" indent="-171450">
              <a:lnSpc>
                <a:spcPct val="116666"/>
              </a:lnSpc>
              <a:buFont typeface="Wingdings" panose="05000000000000000000" pitchFamily="2" charset="2"/>
              <a:buChar char="l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结构先验局限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CNN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下采样操作及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BTS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局部平面假设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倾向于平滑解释局部变化，抑制了深度不连续性的表达。</a:t>
            </a:r>
            <a:endParaRPr lang="en-US" sz="1200" b="0" i="0" u="none" strike="noStrike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  <a:sym typeface="微软雅黑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636634" y="929091"/>
            <a:ext cx="203200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边界预测对比</a:t>
            </a:r>
            <a:endParaRPr lang="en-US" sz="11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6451" b="6451"/>
          <a:stretch>
            <a:fillRect/>
          </a:stretch>
        </p:blipFill>
        <p:spPr>
          <a:xfrm>
            <a:off x="4758104" y="1632024"/>
            <a:ext cx="3810000" cy="1843548"/>
          </a:xfrm>
          <a:prstGeom prst="rect">
            <a:avLst/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8" name="AutoShape 8"/>
          <p:cNvSpPr/>
          <p:nvPr/>
        </p:nvSpPr>
        <p:spPr>
          <a:xfrm>
            <a:off x="4758104" y="3650725"/>
            <a:ext cx="3937000" cy="1016000"/>
          </a:xfrm>
          <a:prstGeom prst="roundRect">
            <a:avLst>
              <a:gd name="adj" fmla="val 125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  <a:effectLst>
            <a:outerShdw blurRad="63500" dist="50800" dir="5400000" algn="ctr" rotWithShape="0">
              <a:srgbClr val="000000">
                <a:alpha val="19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885104" y="3777725"/>
            <a:ext cx="3683000" cy="76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改进思路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(Strategy)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显式边缘引导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(Explicit Edge Guidance)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，在保持全局几何结构稳定的前提下，针对性增强模型对局部不连续区域的感知与精细化重建能力。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705100" y="2679700"/>
            <a:ext cx="6400800" cy="88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2F2F2">
                    <a:alpha val="5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Baseline Model Replication and Performance Analysis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663700" y="685801"/>
            <a:ext cx="2146300" cy="2298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900" b="0" i="0" u="none" strike="noStrike" dirty="0">
                <a:solidFill>
                  <a:srgbClr val="B0C1D8"/>
                </a:solidFill>
                <a:latin typeface="微软雅黑"/>
                <a:ea typeface="微软雅黑"/>
                <a:cs typeface="微软雅黑"/>
                <a:sym typeface="微软雅黑"/>
              </a:rPr>
              <a:t>02</a:t>
            </a:r>
            <a:endParaRPr lang="en-US" sz="1100" dirty="0"/>
          </a:p>
        </p:txBody>
      </p:sp>
      <p:sp>
        <p:nvSpPr>
          <p:cNvPr id="4" name="Freeform 4"/>
          <p:cNvSpPr/>
          <p:nvPr/>
        </p:nvSpPr>
        <p:spPr>
          <a:xfrm>
            <a:off x="0" y="2512314"/>
            <a:ext cx="3708646" cy="118872"/>
          </a:xfrm>
          <a:custGeom>
            <a:avLst/>
            <a:gdLst/>
            <a:ahLst/>
            <a:cxnLst/>
            <a:rect l="l" t="t" r="r" b="b"/>
            <a:pathLst>
              <a:path w="3708646" h="118872">
                <a:moveTo>
                  <a:pt x="0" y="0"/>
                </a:moveTo>
                <a:lnTo>
                  <a:pt x="3708646" y="0"/>
                </a:lnTo>
                <a:lnTo>
                  <a:pt x="3708646" y="118872"/>
                </a:lnTo>
                <a:lnTo>
                  <a:pt x="0" y="118872"/>
                </a:lnTo>
                <a:close/>
              </a:path>
            </a:pathLst>
          </a:custGeom>
          <a:solidFill>
            <a:srgbClr val="4347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078682" y="1441451"/>
            <a:ext cx="1054100" cy="482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PART</a:t>
            </a:r>
            <a:endParaRPr lang="en-US" sz="1800" dirty="0"/>
          </a:p>
        </p:txBody>
      </p:sp>
      <p:sp>
        <p:nvSpPr>
          <p:cNvPr id="6" name="AutoShape 6"/>
          <p:cNvSpPr/>
          <p:nvPr/>
        </p:nvSpPr>
        <p:spPr>
          <a:xfrm>
            <a:off x="4996737" y="1441451"/>
            <a:ext cx="1054100" cy="482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B0C1D8"/>
                </a:solidFill>
                <a:latin typeface="微软雅黑"/>
                <a:ea typeface="微软雅黑"/>
                <a:cs typeface="微软雅黑"/>
                <a:sym typeface="微软雅黑"/>
              </a:rPr>
              <a:t>TWO</a:t>
            </a:r>
            <a:endParaRPr lang="en-US" sz="1800" dirty="0"/>
          </a:p>
        </p:txBody>
      </p:sp>
      <p:sp>
        <p:nvSpPr>
          <p:cNvPr id="7" name="AutoShape 7"/>
          <p:cNvSpPr/>
          <p:nvPr/>
        </p:nvSpPr>
        <p:spPr>
          <a:xfrm>
            <a:off x="3810000" y="2082800"/>
            <a:ext cx="5372100" cy="787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Baseline模型复现与性能分析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" y="0"/>
            <a:ext cx="8610600" cy="558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16666"/>
              </a:lnSpc>
              <a:spcBef>
                <a:spcPts val="375"/>
              </a:spcBef>
              <a:defRPr/>
            </a:pPr>
            <a:r>
              <a:rPr lang="en-US" sz="27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BTS模型：多尺度局部平面指导的典范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503114" y="759435"/>
            <a:ext cx="2794000" cy="406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核心思想与模型原理</a:t>
            </a:r>
            <a:endParaRPr lang="en-US" sz="1100" dirty="0"/>
          </a:p>
        </p:txBody>
      </p:sp>
      <p:sp>
        <p:nvSpPr>
          <p:cNvPr id="4" name="Freeform 4"/>
          <p:cNvSpPr/>
          <p:nvPr/>
        </p:nvSpPr>
        <p:spPr>
          <a:xfrm>
            <a:off x="122002" y="1366471"/>
            <a:ext cx="3364147" cy="3347427"/>
          </a:xfrm>
          <a:custGeom>
            <a:avLst/>
            <a:gdLst/>
            <a:ahLst/>
            <a:cxnLst/>
            <a:rect l="l" t="t" r="r" b="b"/>
            <a:pathLst>
              <a:path w="4512142" h="3912577">
                <a:moveTo>
                  <a:pt x="0" y="0"/>
                </a:moveTo>
                <a:lnTo>
                  <a:pt x="4512142" y="0"/>
                </a:lnTo>
                <a:lnTo>
                  <a:pt x="4512142" y="3912577"/>
                </a:lnTo>
                <a:lnTo>
                  <a:pt x="0" y="3912577"/>
                </a:lnTo>
                <a:close/>
              </a:path>
            </a:pathLst>
          </a:custGeom>
          <a:solidFill>
            <a:srgbClr val="4347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127000" dir="5400000" algn="bl" rotWithShape="0">
              <a:srgbClr val="808080">
                <a:alpha val="10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16387" y="1513498"/>
            <a:ext cx="3080727" cy="3200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▍</a:t>
            </a:r>
            <a:r>
              <a:rPr lang="en-US" sz="1400" b="1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核心思想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8333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摒弃逐像素直接回归，引入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局部平面指导机制 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(LPG)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。将深度估计转化为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局部几何结构重建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问题，利用“局部表面近似平面”的几何先验，抑制噪声并提升整体结构稳定性。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8333"/>
              </a:lnSpc>
            </a:pPr>
            <a:endParaRPr lang="en-US" sz="1200" b="0" i="0" u="none" strike="noStrike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  <a:sym typeface="微软雅黑"/>
            </a:endParaRPr>
          </a:p>
          <a:p>
            <a:pPr indent="0" algn="l">
              <a:lnSpc>
                <a:spcPct val="108333"/>
              </a:lnSpc>
            </a:pPr>
            <a:r>
              <a:rPr lang="en-US" sz="14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▍</a:t>
            </a:r>
            <a:r>
              <a:rPr lang="en-US" sz="1400" b="1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模型原理流程</a:t>
            </a:r>
            <a:endParaRPr lang="en-US" sz="1400" b="1" i="0" u="none" strike="noStrike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  <a:sym typeface="微软雅黑"/>
            </a:endParaRPr>
          </a:p>
          <a:p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、特征提取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：基于 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DenseNet-121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编码器，提取多尺度语义特征。</a:t>
            </a:r>
          </a:p>
          <a:p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、平面参数预测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：在解码器不同尺度分支上，预测局部区域的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距离参数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、深度重建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：基于预测的平面参数，通过几何约束计算生成对应尺度的初始深度图。</a:t>
            </a:r>
          </a:p>
          <a:p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、多尺度融合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：融合不同尺度的深度线索，输出最终高精度深度图。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31" b="31"/>
          <a:stretch>
            <a:fillRect/>
          </a:stretch>
        </p:blipFill>
        <p:spPr>
          <a:xfrm>
            <a:off x="3580534" y="668704"/>
            <a:ext cx="5474390" cy="300208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52400" dist="63500" dir="6600000" algn="ctr" rotWithShape="0">
              <a:srgbClr val="000000">
                <a:alpha val="39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3580534" y="3780694"/>
            <a:ext cx="5441464" cy="1094641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▍</a:t>
            </a:r>
            <a:r>
              <a:rPr lang="en-US" sz="1200" b="1" i="0" u="none" strike="noStrike" dirty="0" err="1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优势与局限性分析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30000"/>
              </a:lnSpc>
            </a:pPr>
            <a:r>
              <a:rPr lang="en-US" sz="1000" b="0" i="0" u="none" strike="noStrike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• 优势：引入“局部表面近似平面”的几何先验，有效抑制了单目深度估计常见的噪声，使生成的深度图在物体表面的整体结构上更加平滑、连续且稳定。</a:t>
            </a:r>
          </a:p>
          <a:p>
            <a:pPr>
              <a:lnSpc>
                <a:spcPct val="130000"/>
              </a:lnSpc>
            </a:pPr>
            <a:r>
              <a:rPr lang="en-US" sz="1000" b="0" i="0" u="none" strike="noStrike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• </a:t>
            </a:r>
            <a:r>
              <a:rPr lang="en-US" sz="1000" b="0" i="0" u="none" strike="noStrike" dirty="0" err="1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局限</a:t>
            </a:r>
            <a:r>
              <a:rPr lang="en-US" sz="1000" b="0" i="0" u="none" strike="noStrike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  <a:sym typeface="微软雅黑"/>
              </a:rPr>
              <a:t>：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局部平面假设倾向于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区域一致性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，导致网络在处理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深度不连续区域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（如物体轮廓、遮挡边界）时，倾向于用平滑的平面去拟合跳变，从而造成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高频几何细节丢失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边界过平滑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000" b="0" i="0" u="none" strike="noStrike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  <a:sym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AutoShape 2">
            <a:extLst>
              <a:ext uri="{FF2B5EF4-FFF2-40B4-BE49-F238E27FC236}">
                <a16:creationId xmlns:a16="http://schemas.microsoft.com/office/drawing/2014/main" id="{483D21DE-4E9E-05E2-69DB-140517B9FF5E}"/>
              </a:ext>
            </a:extLst>
          </p:cNvPr>
          <p:cNvSpPr/>
          <p:nvPr/>
        </p:nvSpPr>
        <p:spPr>
          <a:xfrm>
            <a:off x="4305297" y="3724877"/>
            <a:ext cx="4663439" cy="782320"/>
          </a:xfrm>
          <a:prstGeom prst="roundRect">
            <a:avLst>
              <a:gd name="adj" fmla="val 19405"/>
            </a:avLst>
          </a:prstGeom>
          <a:solidFill>
            <a:srgbClr val="EBEE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">
            <a:extLst>
              <a:ext uri="{FF2B5EF4-FFF2-40B4-BE49-F238E27FC236}">
                <a16:creationId xmlns:a16="http://schemas.microsoft.com/office/drawing/2014/main" id="{ED26F0EF-D7DE-24A0-F3E0-843D7BF22FAA}"/>
              </a:ext>
            </a:extLst>
          </p:cNvPr>
          <p:cNvSpPr/>
          <p:nvPr/>
        </p:nvSpPr>
        <p:spPr>
          <a:xfrm>
            <a:off x="88900" y="0"/>
            <a:ext cx="8610600" cy="558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>
              <a:lnSpc>
                <a:spcPct val="116666"/>
              </a:lnSpc>
              <a:spcBef>
                <a:spcPts val="375"/>
              </a:spcBef>
              <a:defRPr/>
            </a:pPr>
            <a:r>
              <a:rPr lang="en-US" altLang="zh-CN" sz="2700" b="1" dirty="0"/>
              <a:t>Baseline </a:t>
            </a:r>
            <a:r>
              <a:rPr lang="zh-CN" altLang="en-US" sz="2700" b="1" dirty="0"/>
              <a:t>复现与实验基准设定</a:t>
            </a:r>
            <a:endParaRPr lang="en-US" sz="27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5123770-E596-F324-D748-5A4F007FEA4A}"/>
              </a:ext>
            </a:extLst>
          </p:cNvPr>
          <p:cNvSpPr txBox="1"/>
          <p:nvPr/>
        </p:nvSpPr>
        <p:spPr>
          <a:xfrm>
            <a:off x="320252" y="803533"/>
            <a:ext cx="1957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chemeClr val="tx1"/>
                </a:solidFill>
                <a:effectLst/>
                <a:latin typeface="system-ui"/>
              </a:rPr>
              <a:t>数据集展示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9A2626-A676-B32D-8C68-261918D2F6AB}"/>
              </a:ext>
            </a:extLst>
          </p:cNvPr>
          <p:cNvSpPr txBox="1"/>
          <p:nvPr/>
        </p:nvSpPr>
        <p:spPr>
          <a:xfrm>
            <a:off x="360892" y="1315562"/>
            <a:ext cx="34302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NYUv2 (</a:t>
            </a:r>
            <a:r>
              <a:rPr lang="zh-CN" altLang="en-US" b="1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室内标准</a:t>
            </a:r>
            <a:r>
              <a:rPr lang="en-US" altLang="zh-CN" b="1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/>
            <a:r>
              <a:rPr lang="zh-CN" altLang="en-US" b="0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场景结构规整，最大深度 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10m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/>
            <a:r>
              <a:rPr lang="zh-CN" altLang="en-US" b="0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用途：验证基础精度与边界细节。</a:t>
            </a:r>
          </a:p>
          <a:p>
            <a:pPr algn="l"/>
            <a:r>
              <a:rPr lang="en-US" altLang="zh-CN" b="1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DIODE (</a:t>
            </a:r>
            <a:r>
              <a:rPr lang="zh-CN" altLang="en-US" b="1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室内外混合</a:t>
            </a:r>
            <a:r>
              <a:rPr lang="en-US" altLang="zh-CN" b="1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lvl="1" algn="l"/>
            <a:r>
              <a:rPr lang="zh-CN" altLang="en-US" b="0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场景复杂多变，包含室外环境。</a:t>
            </a:r>
            <a:endParaRPr lang="en-US" altLang="zh-CN" b="0" i="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lang="zh-CN" altLang="en-US" b="0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用途：验证模型泛化能力与鲁棒性。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3C86CCF-80A9-6675-33A8-E0C968C85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" y="2961702"/>
            <a:ext cx="1918547" cy="143891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0F972D2C-686B-58DA-E21B-5C7723118A08}"/>
              </a:ext>
            </a:extLst>
          </p:cNvPr>
          <p:cNvSpPr txBox="1"/>
          <p:nvPr/>
        </p:nvSpPr>
        <p:spPr>
          <a:xfrm>
            <a:off x="392853" y="4549838"/>
            <a:ext cx="1447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/>
              <a:t>NYUv2_</a:t>
            </a:r>
            <a:r>
              <a:rPr lang="zh-CN" altLang="en-US" sz="1100" dirty="0"/>
              <a:t>rgb_00673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B6D8E7A9-C7A3-D12F-BE4E-C7BF2C5CE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705" y="2961702"/>
            <a:ext cx="1918546" cy="143891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2304BF99-9219-A3FA-D7AE-8174F9936B30}"/>
              </a:ext>
            </a:extLst>
          </p:cNvPr>
          <p:cNvSpPr txBox="1"/>
          <p:nvPr/>
        </p:nvSpPr>
        <p:spPr>
          <a:xfrm>
            <a:off x="2466763" y="4480588"/>
            <a:ext cx="14084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DIODE_</a:t>
            </a:r>
            <a:r>
              <a:rPr lang="zh-CN" altLang="en-US" sz="1000" dirty="0"/>
              <a:t>00023_00199_outdoor_220_020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257069C-E1D6-2E0F-7439-E1F36807F7D9}"/>
              </a:ext>
            </a:extLst>
          </p:cNvPr>
          <p:cNvSpPr txBox="1"/>
          <p:nvPr/>
        </p:nvSpPr>
        <p:spPr>
          <a:xfrm>
            <a:off x="5897247" y="670607"/>
            <a:ext cx="15455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复现结果表</a:t>
            </a: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BD124DFA-E9F2-C57E-A161-62ADB10DA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943674"/>
              </p:ext>
            </p:extLst>
          </p:nvPr>
        </p:nvGraphicFramePr>
        <p:xfrm>
          <a:off x="4305297" y="1221107"/>
          <a:ext cx="4663440" cy="2214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1209980767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111579275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1733086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632663366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4253834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effectLst/>
                        </a:rPr>
                        <a:t>数据集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effectLst/>
                        </a:rPr>
                        <a:t>评价指标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BTS </a:t>
                      </a:r>
                      <a:r>
                        <a:rPr lang="zh-CN" altLang="en-US">
                          <a:effectLst/>
                        </a:rPr>
                        <a:t>原论文结果 </a:t>
                      </a:r>
                      <a:r>
                        <a:rPr lang="en-US" altLang="zh-CN">
                          <a:effectLst/>
                        </a:rPr>
                        <a:t>(</a:t>
                      </a:r>
                      <a:r>
                        <a:rPr lang="en-US">
                          <a:effectLst/>
                        </a:rPr>
                        <a:t>Paper)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effectLst/>
                        </a:rPr>
                        <a:t>本实验复现结果 </a:t>
                      </a:r>
                      <a:r>
                        <a:rPr lang="en-US" altLang="zh-CN" b="1">
                          <a:effectLst/>
                        </a:rPr>
                        <a:t>(Ours)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effectLst/>
                        </a:rPr>
                        <a:t>误差偏差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40165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NYUv2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AbsRel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0.168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0.168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&lt; 0.1%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41825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0.547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0.547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&lt; 0.1%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840591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DIODE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AbsRel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0.542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0.542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&lt; 0.1%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0693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1.773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1.773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effectLst/>
                        </a:rPr>
                        <a:t>&lt; 0.1%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541973"/>
                  </a:ext>
                </a:extLst>
              </a:tr>
            </a:tbl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9109EF45-170D-5D56-CE39-E318D1F38D30}"/>
              </a:ext>
            </a:extLst>
          </p:cNvPr>
          <p:cNvSpPr txBox="1"/>
          <p:nvPr/>
        </p:nvSpPr>
        <p:spPr>
          <a:xfrm>
            <a:off x="4472936" y="3836684"/>
            <a:ext cx="4269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ystem-ui"/>
              </a:rPr>
              <a:t>结论：复现指标与 </a:t>
            </a:r>
            <a:r>
              <a:rPr lang="en-US" altLang="zh-CN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ystem-ui"/>
              </a:rPr>
              <a:t>BTS </a:t>
            </a:r>
            <a:r>
              <a:rPr lang="zh-CN" alt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ystem-ui"/>
              </a:rPr>
              <a:t>原论文高度吻合，验证了实验环境的有效性，确立了可靠的改进基准。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4E8ED0B-E06F-4BFE-805D-B3764C72E93F}"/>
              </a:ext>
            </a:extLst>
          </p:cNvPr>
          <p:cNvSpPr txBox="1"/>
          <p:nvPr/>
        </p:nvSpPr>
        <p:spPr>
          <a:xfrm>
            <a:off x="5711185" y="4672949"/>
            <a:ext cx="321818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AbsRel</a:t>
            </a:r>
            <a:r>
              <a:rPr lang="zh-CN" altLang="en-US" sz="105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：反映模型在不同深度尺度下的相对稳定性</a:t>
            </a:r>
            <a:endParaRPr lang="en-US" altLang="zh-CN" sz="105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RMSE</a:t>
            </a:r>
            <a:r>
              <a:rPr lang="zh-CN" altLang="en-US" sz="105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：暴露是否存在局部严重偏差。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73500" y="2679700"/>
            <a:ext cx="5308600" cy="76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D9D9D9">
                    <a:alpha val="7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Bottleneck Analysis and Motivation Elaboration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922780" y="850900"/>
            <a:ext cx="2146300" cy="2298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83333"/>
              </a:lnSpc>
              <a:defRPr/>
            </a:pPr>
            <a:r>
              <a:rPr lang="en-US" sz="10900" b="1" i="0" u="none" strike="noStrike" dirty="0">
                <a:solidFill>
                  <a:srgbClr val="B0C1D8"/>
                </a:solidFill>
                <a:latin typeface="微软雅黑"/>
                <a:ea typeface="微软雅黑"/>
                <a:cs typeface="微软雅黑"/>
                <a:sym typeface="微软雅黑"/>
              </a:rPr>
              <a:t>03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2400300"/>
            <a:ext cx="3708400" cy="114300"/>
          </a:xfrm>
          <a:prstGeom prst="roundRect">
            <a:avLst>
              <a:gd name="adj" fmla="val 0"/>
            </a:avLst>
          </a:prstGeom>
          <a:solidFill>
            <a:srgbClr val="4347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873500" y="1676400"/>
            <a:ext cx="1054100" cy="482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PART</a:t>
            </a:r>
            <a:endParaRPr lang="en-US" sz="1800" dirty="0"/>
          </a:p>
        </p:txBody>
      </p:sp>
      <p:sp>
        <p:nvSpPr>
          <p:cNvPr id="6" name="AutoShape 6"/>
          <p:cNvSpPr/>
          <p:nvPr/>
        </p:nvSpPr>
        <p:spPr>
          <a:xfrm>
            <a:off x="4953000" y="1676400"/>
            <a:ext cx="1054100" cy="482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B0C1D8"/>
                </a:solidFill>
                <a:latin typeface="微软雅黑"/>
                <a:ea typeface="微软雅黑"/>
                <a:cs typeface="微软雅黑"/>
                <a:sym typeface="微软雅黑"/>
              </a:rPr>
              <a:t>THREE</a:t>
            </a:r>
            <a:endParaRPr lang="en-US" sz="1800" dirty="0"/>
          </a:p>
        </p:txBody>
      </p:sp>
      <p:sp>
        <p:nvSpPr>
          <p:cNvPr id="7" name="AutoShape 7"/>
          <p:cNvSpPr/>
          <p:nvPr/>
        </p:nvSpPr>
        <p:spPr>
          <a:xfrm>
            <a:off x="3810000" y="2082800"/>
            <a:ext cx="5334000" cy="787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瓶颈分析与动机阐述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2400" y="1397000"/>
            <a:ext cx="3274060" cy="3492500"/>
          </a:xfrm>
          <a:prstGeom prst="roundRect">
            <a:avLst>
              <a:gd name="adj" fmla="val 7059"/>
            </a:avLst>
          </a:prstGeom>
          <a:solidFill>
            <a:srgbClr val="B0C1D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88900" dist="63500" dir="8400000" algn="ctr" rotWithShape="0">
              <a:srgbClr val="000000">
                <a:alpha val="39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8900" y="127000"/>
            <a:ext cx="8610600" cy="635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BTS模型的瓶颈与改进动机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901700" y="946150"/>
            <a:ext cx="169418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01 </a:t>
            </a:r>
            <a:r>
              <a:rPr lang="en-US" sz="18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瓶颈分析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302260" y="1657350"/>
            <a:ext cx="3055620" cy="2971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en-US" dirty="0"/>
              <a:t>⚠️</a:t>
            </a:r>
            <a:r>
              <a:rPr lang="zh-CN" altLang="en-US" b="1" dirty="0"/>
              <a:t>局部平面假设的副作用 </a:t>
            </a:r>
            <a:r>
              <a:rPr lang="en-US" altLang="zh-CN" b="1" dirty="0"/>
              <a:t>(Over-smoothing by LPG)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       BTS </a:t>
            </a:r>
            <a:r>
              <a:rPr lang="zh-CN" altLang="en-US" dirty="0"/>
              <a:t>依赖的局部平面指导（</a:t>
            </a:r>
            <a:r>
              <a:rPr lang="en-US" altLang="zh-CN" dirty="0"/>
              <a:t>LPG</a:t>
            </a:r>
            <a:r>
              <a:rPr lang="zh-CN" altLang="en-US" dirty="0"/>
              <a:t>）虽增强了整体结构稳定性，但在</a:t>
            </a:r>
            <a:r>
              <a:rPr lang="zh-CN" altLang="en-US" b="1" dirty="0"/>
              <a:t>深度不连续区域</a:t>
            </a:r>
            <a:r>
              <a:rPr lang="zh-CN" altLang="en-US" dirty="0"/>
              <a:t>（如物体轮廓）倾向于平滑过渡，导致</a:t>
            </a:r>
            <a:r>
              <a:rPr lang="zh-CN" altLang="en-US" b="1" dirty="0"/>
              <a:t>边界混叠</a:t>
            </a:r>
            <a:r>
              <a:rPr lang="zh-CN" altLang="en-US" dirty="0"/>
              <a:t>与</a:t>
            </a:r>
            <a:r>
              <a:rPr lang="zh-CN" altLang="en-US" b="1" dirty="0"/>
              <a:t>几何细节丢失</a:t>
            </a:r>
            <a:r>
              <a:rPr lang="zh-CN" altLang="en-US" dirty="0"/>
              <a:t>。</a:t>
            </a:r>
          </a:p>
          <a:p>
            <a:endParaRPr lang="en-US" altLang="zh-CN" b="1" dirty="0"/>
          </a:p>
          <a:p>
            <a:r>
              <a:rPr lang="zh-CN" altLang="en-US" dirty="0"/>
              <a:t>❌</a:t>
            </a:r>
            <a:r>
              <a:rPr lang="zh-CN" altLang="en-US" b="1" dirty="0"/>
              <a:t>高频空间信息衰减 </a:t>
            </a:r>
            <a:r>
              <a:rPr lang="en-US" altLang="zh-CN" b="1" dirty="0"/>
              <a:t>(High-frequency Feature Loss)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dirty="0"/>
              <a:t>        深层网络的下采样操作不可避免地滤除了</a:t>
            </a:r>
            <a:r>
              <a:rPr lang="zh-CN" altLang="en-US" b="1" dirty="0"/>
              <a:t>高频细节</a:t>
            </a:r>
            <a:r>
              <a:rPr lang="zh-CN" altLang="en-US" dirty="0"/>
              <a:t>，使得解码器在恢复</a:t>
            </a:r>
            <a:r>
              <a:rPr lang="zh-CN" altLang="en-US" b="1" dirty="0"/>
              <a:t>锐利边缘</a:t>
            </a:r>
            <a:r>
              <a:rPr lang="zh-CN" altLang="en-US" dirty="0"/>
              <a:t>时缺乏足够的底层特征支撑。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139940" y="2679700"/>
            <a:ext cx="2004060" cy="508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02 </a:t>
            </a:r>
            <a:r>
              <a:rPr lang="en-US" sz="18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改进动机与方案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3738880" y="2368548"/>
            <a:ext cx="3274060" cy="1219201"/>
          </a:xfrm>
          <a:prstGeom prst="roundRect">
            <a:avLst>
              <a:gd name="adj" fmla="val 14462"/>
            </a:avLst>
          </a:prstGeom>
          <a:solidFill>
            <a:srgbClr val="EFF6FF">
              <a:alpha val="9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909060" y="2561590"/>
            <a:ext cx="2893060" cy="8445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en-US" b="1" dirty="0"/>
              <a:t>设计动机 </a:t>
            </a:r>
            <a:r>
              <a:rPr lang="en-US" altLang="zh-CN" b="1" dirty="0"/>
              <a:t>(Motivation)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</a:t>
            </a:r>
            <a:r>
              <a:rPr lang="zh-CN" altLang="en-US" b="1" dirty="0"/>
              <a:t>保留 </a:t>
            </a:r>
            <a:r>
              <a:rPr lang="en-US" altLang="zh-CN" b="1" dirty="0"/>
              <a:t>BTS </a:t>
            </a:r>
            <a:r>
              <a:rPr lang="zh-CN" altLang="en-US" b="1" dirty="0"/>
              <a:t>全局几何先验</a:t>
            </a:r>
            <a:r>
              <a:rPr lang="zh-CN" altLang="en-US" dirty="0"/>
              <a:t>优势的前提下，打破局部平滑局限，使模型能</a:t>
            </a:r>
            <a:r>
              <a:rPr lang="zh-CN" altLang="en-US" b="1" dirty="0"/>
              <a:t>显式感知</a:t>
            </a:r>
            <a:r>
              <a:rPr lang="zh-CN" altLang="en-US" dirty="0"/>
              <a:t>并精细处理深度突变区域。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3764280" y="3688080"/>
            <a:ext cx="4445000" cy="1254760"/>
          </a:xfrm>
          <a:prstGeom prst="roundRect">
            <a:avLst>
              <a:gd name="adj" fmla="val 13360"/>
            </a:avLst>
          </a:prstGeom>
          <a:solidFill>
            <a:srgbClr val="FFFBEB">
              <a:alpha val="90000"/>
            </a:srgbClr>
          </a:solidFill>
          <a:ln w="12700" cap="flat" cmpd="sng">
            <a:solidFill>
              <a:srgbClr val="FCD34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954780" y="3870960"/>
            <a:ext cx="4064000" cy="88138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en-US" b="1" dirty="0"/>
              <a:t>核心方案：</a:t>
            </a:r>
            <a:r>
              <a:rPr lang="en-US" altLang="zh-CN" b="1" dirty="0"/>
              <a:t>Edge-Guided BTS</a:t>
            </a:r>
          </a:p>
          <a:p>
            <a:r>
              <a:rPr lang="zh-CN" altLang="en-US" b="1" dirty="0"/>
              <a:t>结构增强</a:t>
            </a:r>
            <a:r>
              <a:rPr lang="zh-CN" altLang="en-US" dirty="0"/>
              <a:t>：引入轻量</a:t>
            </a:r>
            <a:r>
              <a:rPr lang="zh-CN" altLang="en-US" b="1" dirty="0"/>
              <a:t>边缘分支</a:t>
            </a:r>
            <a:r>
              <a:rPr lang="zh-CN" altLang="en-US" dirty="0"/>
              <a:t>，从浅层特征提取高频边界信息。</a:t>
            </a:r>
          </a:p>
          <a:p>
            <a:r>
              <a:rPr lang="zh-CN" altLang="en-US" b="1" dirty="0"/>
              <a:t>监督增强</a:t>
            </a:r>
            <a:r>
              <a:rPr lang="zh-CN" altLang="en-US" dirty="0"/>
              <a:t>：设计</a:t>
            </a:r>
            <a:r>
              <a:rPr lang="zh-CN" altLang="en-US" b="1" dirty="0"/>
              <a:t>边缘引导融合</a:t>
            </a:r>
            <a:r>
              <a:rPr lang="zh-CN" altLang="en-US" dirty="0"/>
              <a:t>与</a:t>
            </a:r>
            <a:r>
              <a:rPr lang="zh-CN" altLang="en-US" b="1" dirty="0"/>
              <a:t>深度边缘监督损失</a:t>
            </a:r>
            <a:r>
              <a:rPr lang="zh-CN" altLang="en-US" dirty="0"/>
              <a:t>，强化模型对几何不连续区域的聚焦与重建能力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FF8ADAA-0262-5226-E570-4344B8A6E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760" y="94295"/>
            <a:ext cx="3790950" cy="2130745"/>
          </a:xfrm>
          <a:prstGeom prst="rect">
            <a:avLst/>
          </a:prstGeom>
          <a:effectLst>
            <a:outerShdw blurRad="50800" dist="50800" dir="3000000" algn="ctr" rotWithShape="0">
              <a:srgbClr val="000000">
                <a:alpha val="21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73500" y="2921000"/>
            <a:ext cx="5308600" cy="76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D9D9D9">
                    <a:alpha val="80000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Improved Algorithm: Edge-Guided BTS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790700" y="937260"/>
            <a:ext cx="2146300" cy="2298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900" b="0" i="0" u="none" strike="noStrike" dirty="0">
                <a:solidFill>
                  <a:srgbClr val="B0C1D8"/>
                </a:solidFill>
                <a:latin typeface="微软雅黑"/>
                <a:ea typeface="微软雅黑"/>
                <a:cs typeface="微软雅黑"/>
                <a:sym typeface="微软雅黑"/>
              </a:rPr>
              <a:t>04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2654300"/>
            <a:ext cx="3708400" cy="114300"/>
          </a:xfrm>
          <a:prstGeom prst="roundRect">
            <a:avLst>
              <a:gd name="adj" fmla="val 0"/>
            </a:avLst>
          </a:prstGeom>
          <a:solidFill>
            <a:srgbClr val="4347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044950" y="1670050"/>
            <a:ext cx="1054100" cy="482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PART</a:t>
            </a:r>
            <a:endParaRPr lang="en-US" sz="1800" dirty="0"/>
          </a:p>
        </p:txBody>
      </p:sp>
      <p:sp>
        <p:nvSpPr>
          <p:cNvPr id="6" name="AutoShape 6"/>
          <p:cNvSpPr/>
          <p:nvPr/>
        </p:nvSpPr>
        <p:spPr>
          <a:xfrm>
            <a:off x="4997450" y="1670050"/>
            <a:ext cx="1054100" cy="482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B0C1D8"/>
                </a:solidFill>
                <a:latin typeface="微软雅黑"/>
                <a:ea typeface="微软雅黑"/>
                <a:cs typeface="微软雅黑"/>
                <a:sym typeface="微软雅黑"/>
              </a:rPr>
              <a:t>FOUR</a:t>
            </a:r>
            <a:endParaRPr lang="en-US" sz="1800" dirty="0"/>
          </a:p>
        </p:txBody>
      </p:sp>
      <p:sp>
        <p:nvSpPr>
          <p:cNvPr id="7" name="AutoShape 7"/>
          <p:cNvSpPr/>
          <p:nvPr/>
        </p:nvSpPr>
        <p:spPr>
          <a:xfrm>
            <a:off x="3775710" y="2152650"/>
            <a:ext cx="5110480" cy="622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改进算法：Edge-Guided</a:t>
            </a:r>
            <a:r>
              <a:rPr lang="en-US" sz="28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BTS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4869180" cy="48500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50800" rIns="101600" bIns="508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7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Edge-Guided BTS </a:t>
            </a:r>
            <a:r>
              <a:rPr lang="en-US" sz="27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总体结构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5600700" y="1089626"/>
            <a:ext cx="2900680" cy="1021080"/>
          </a:xfrm>
          <a:prstGeom prst="roundRect">
            <a:avLst>
              <a:gd name="adj" fmla="val 0"/>
            </a:avLst>
          </a:prstGeom>
          <a:solidFill>
            <a:srgbClr val="B0C1D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727700" y="1178526"/>
            <a:ext cx="2636520" cy="83566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01. </a:t>
            </a:r>
            <a:r>
              <a:rPr lang="en-US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边缘分支</a:t>
            </a:r>
            <a:r>
              <a:rPr lang="en-US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(Edge Branch)</a:t>
            </a:r>
            <a:endParaRPr lang="en-US" dirty="0"/>
          </a:p>
          <a:p>
            <a:r>
              <a:rPr lang="zh-CN" altLang="en-US" sz="1000" b="1" dirty="0"/>
              <a:t>位置</a:t>
            </a:r>
            <a:r>
              <a:rPr lang="zh-CN" altLang="en-US" sz="1000" dirty="0"/>
              <a:t>：解码器末端（基于 </a:t>
            </a:r>
            <a:r>
              <a:rPr lang="en-US" altLang="zh-CN" sz="1000" dirty="0"/>
              <a:t>skip0 </a:t>
            </a:r>
            <a:r>
              <a:rPr lang="zh-CN" altLang="en-US" sz="1000" dirty="0"/>
              <a:t>浅层特征）</a:t>
            </a:r>
          </a:p>
          <a:p>
            <a:r>
              <a:rPr lang="zh-CN" altLang="en-US" sz="1000" b="1" dirty="0"/>
              <a:t>结构</a:t>
            </a:r>
            <a:r>
              <a:rPr lang="zh-CN" altLang="en-US" sz="1000" dirty="0"/>
              <a:t>：</a:t>
            </a:r>
            <a:r>
              <a:rPr lang="en-US" altLang="zh-CN" sz="1000" dirty="0"/>
              <a:t>2</a:t>
            </a:r>
            <a:r>
              <a:rPr lang="zh-CN" altLang="en-US" sz="1000" dirty="0"/>
              <a:t>层轻量卷积 → 边缘 </a:t>
            </a:r>
            <a:r>
              <a:rPr lang="en-US" altLang="zh-CN" sz="1000" dirty="0"/>
              <a:t>logits</a:t>
            </a:r>
          </a:p>
          <a:p>
            <a:r>
              <a:rPr lang="zh-CN" altLang="en-US" sz="1000" b="1" dirty="0"/>
              <a:t>作用</a:t>
            </a:r>
            <a:r>
              <a:rPr lang="zh-CN" altLang="en-US" sz="1000" dirty="0"/>
              <a:t>：显式提取深度不连续边界</a:t>
            </a:r>
          </a:p>
        </p:txBody>
      </p:sp>
      <p:sp>
        <p:nvSpPr>
          <p:cNvPr id="5" name="AutoShape 5"/>
          <p:cNvSpPr/>
          <p:nvPr/>
        </p:nvSpPr>
        <p:spPr>
          <a:xfrm>
            <a:off x="5427869" y="2057877"/>
            <a:ext cx="3706606" cy="992629"/>
          </a:xfrm>
          <a:prstGeom prst="roundRect">
            <a:avLst>
              <a:gd name="adj" fmla="val 0"/>
            </a:avLst>
          </a:prstGeom>
          <a:solidFill>
            <a:srgbClr val="4347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501217" y="2127216"/>
            <a:ext cx="3525520" cy="79756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b="1" i="0" u="none" strike="noStrike" dirty="0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微软雅黑"/>
              </a:rPr>
              <a:t>02. </a:t>
            </a:r>
            <a:r>
              <a:rPr lang="en-US" b="1" i="0" u="none" strike="noStrike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微软雅黑"/>
              </a:rPr>
              <a:t>边缘引导融合</a:t>
            </a:r>
            <a:r>
              <a:rPr lang="en-US" b="1" i="0" u="none" strike="noStrike" dirty="0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微软雅黑"/>
              </a:rPr>
              <a:t> (Edge-Guided Fusion)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zh-CN" altLang="en-US" sz="1000" b="1" dirty="0">
                <a:solidFill>
                  <a:schemeClr val="bg1"/>
                </a:solidFill>
              </a:rPr>
              <a:t>调制方式</a:t>
            </a:r>
            <a:r>
              <a:rPr lang="zh-CN" altLang="en-US" sz="1000" dirty="0">
                <a:solidFill>
                  <a:schemeClr val="bg1"/>
                </a:solidFill>
              </a:rPr>
              <a:t>：</a:t>
            </a:r>
            <a:r>
              <a:rPr lang="en-US" altLang="zh-CN" sz="1000" dirty="0">
                <a:solidFill>
                  <a:schemeClr val="bg1"/>
                </a:solidFill>
              </a:rPr>
              <a:t>upconv1 = upconv1 × (1 + </a:t>
            </a:r>
            <a:r>
              <a:rPr lang="en-US" altLang="zh-CN" sz="1000" dirty="0" err="1">
                <a:solidFill>
                  <a:schemeClr val="bg1"/>
                </a:solidFill>
              </a:rPr>
              <a:t>edge_prob</a:t>
            </a:r>
            <a:r>
              <a:rPr lang="en-US" altLang="zh-CN" sz="1000" dirty="0">
                <a:solidFill>
                  <a:schemeClr val="bg1"/>
                </a:solidFill>
              </a:rPr>
              <a:t>)</a:t>
            </a:r>
          </a:p>
          <a:p>
            <a:r>
              <a:rPr lang="zh-CN" altLang="en-US" sz="1000" b="1" dirty="0">
                <a:solidFill>
                  <a:schemeClr val="bg1"/>
                </a:solidFill>
              </a:rPr>
              <a:t>融合输入</a:t>
            </a:r>
            <a:r>
              <a:rPr lang="zh-CN" altLang="en-US" sz="1000" dirty="0">
                <a:solidFill>
                  <a:schemeClr val="bg1"/>
                </a:solidFill>
              </a:rPr>
              <a:t>：</a:t>
            </a:r>
            <a:r>
              <a:rPr lang="en-US" altLang="zh-CN" sz="1000" dirty="0">
                <a:solidFill>
                  <a:schemeClr val="bg1"/>
                </a:solidFill>
              </a:rPr>
              <a:t>[</a:t>
            </a:r>
            <a:r>
              <a:rPr lang="zh-CN" altLang="en-US" sz="1000" dirty="0">
                <a:solidFill>
                  <a:schemeClr val="bg1"/>
                </a:solidFill>
              </a:rPr>
              <a:t>调制后特征</a:t>
            </a:r>
            <a:r>
              <a:rPr lang="en-US" altLang="zh-CN" sz="1000" dirty="0">
                <a:solidFill>
                  <a:schemeClr val="bg1"/>
                </a:solidFill>
              </a:rPr>
              <a:t>, reduc1x1, 3</a:t>
            </a:r>
            <a:r>
              <a:rPr lang="zh-CN" altLang="en-US" sz="1000" dirty="0">
                <a:solidFill>
                  <a:schemeClr val="bg1"/>
                </a:solidFill>
              </a:rPr>
              <a:t>尺度深度图</a:t>
            </a:r>
            <a:r>
              <a:rPr lang="en-US" altLang="zh-CN" sz="1000" dirty="0">
                <a:solidFill>
                  <a:schemeClr val="bg1"/>
                </a:solidFill>
              </a:rPr>
              <a:t>, </a:t>
            </a:r>
            <a:r>
              <a:rPr lang="en-US" altLang="zh-CN" sz="1000" dirty="0" err="1">
                <a:solidFill>
                  <a:schemeClr val="bg1"/>
                </a:solidFill>
              </a:rPr>
              <a:t>edge_prob</a:t>
            </a:r>
            <a:r>
              <a:rPr lang="en-US" altLang="zh-CN" sz="1000" dirty="0">
                <a:solidFill>
                  <a:schemeClr val="bg1"/>
                </a:solidFill>
              </a:rPr>
              <a:t>]</a:t>
            </a:r>
          </a:p>
          <a:p>
            <a:r>
              <a:rPr lang="zh-CN" altLang="en-US" sz="1000" b="1" dirty="0">
                <a:solidFill>
                  <a:schemeClr val="bg1"/>
                </a:solidFill>
              </a:rPr>
              <a:t>输出</a:t>
            </a:r>
            <a:r>
              <a:rPr lang="zh-CN" altLang="en-US" sz="1000" dirty="0">
                <a:solidFill>
                  <a:schemeClr val="bg1"/>
                </a:solidFill>
              </a:rPr>
              <a:t>：最终深度图（边界锐化）</a:t>
            </a:r>
          </a:p>
        </p:txBody>
      </p:sp>
      <p:sp>
        <p:nvSpPr>
          <p:cNvPr id="8" name="AutoShape 8"/>
          <p:cNvSpPr/>
          <p:nvPr/>
        </p:nvSpPr>
        <p:spPr>
          <a:xfrm>
            <a:off x="5391150" y="2998046"/>
            <a:ext cx="3743325" cy="1078653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B0C1D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411894" y="3060801"/>
            <a:ext cx="3863340" cy="813546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b="1" i="0" u="none" strike="noStrike" dirty="0">
                <a:solidFill>
                  <a:srgbClr val="B91C1C"/>
                </a:solidFill>
                <a:latin typeface="微软雅黑"/>
                <a:ea typeface="微软雅黑"/>
                <a:cs typeface="微软雅黑"/>
                <a:sym typeface="微软雅黑"/>
              </a:rPr>
              <a:t>03. </a:t>
            </a:r>
            <a:r>
              <a:rPr lang="en-US" b="1" i="0" u="none" strike="noStrike" dirty="0" err="1">
                <a:solidFill>
                  <a:srgbClr val="B91C1C"/>
                </a:solidFill>
                <a:latin typeface="微软雅黑"/>
                <a:ea typeface="微软雅黑"/>
                <a:cs typeface="微软雅黑"/>
                <a:sym typeface="微软雅黑"/>
              </a:rPr>
              <a:t>边缘监督损失</a:t>
            </a:r>
            <a:r>
              <a:rPr lang="en-US" b="1" i="0" u="none" strike="noStrike" dirty="0">
                <a:solidFill>
                  <a:srgbClr val="B91C1C"/>
                </a:solidFill>
                <a:latin typeface="微软雅黑"/>
                <a:ea typeface="微软雅黑"/>
                <a:cs typeface="微软雅黑"/>
                <a:sym typeface="微软雅黑"/>
              </a:rPr>
              <a:t> (Edge Supervision Loss)</a:t>
            </a:r>
            <a:endParaRPr lang="en-US" dirty="0"/>
          </a:p>
          <a:p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目标构造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：从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depth_gt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计算局部差分 → 二值化边缘标签</a:t>
            </a:r>
          </a:p>
          <a:p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损失函数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L_edge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BCEWithLogitsLoss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edge_logits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edge_target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总损失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L_total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L_depth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+ </a:t>
            </a:r>
            <a:r>
              <a:rPr lang="el-GR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λ ×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L_edge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el-GR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λ=0.05/0.02</a:t>
            </a:r>
            <a:r>
              <a:rPr lang="zh-CN" altLang="el-G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405499" y="4540250"/>
            <a:ext cx="6397674" cy="47625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  <a:alpha val="90000"/>
            </a:scheme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475349" y="4587875"/>
            <a:ext cx="6203805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协同机制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：分支提取边界 → 融合调制特征 → 损失约束学习方向 → 边界深度预测精度提升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2611-9381-C2B1-CBBF-32C2148DF9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086" b="2469"/>
          <a:stretch>
            <a:fillRect/>
          </a:stretch>
        </p:blipFill>
        <p:spPr>
          <a:xfrm>
            <a:off x="49998" y="790798"/>
            <a:ext cx="5291456" cy="3615724"/>
          </a:xfrm>
          <a:prstGeom prst="rect">
            <a:avLst/>
          </a:prstGeom>
          <a:effectLst>
            <a:outerShdw blurRad="63500" dist="88900" dir="3000000" algn="ctr" rotWithShape="0">
              <a:srgbClr val="000000">
                <a:alpha val="33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21320" y="3584820"/>
            <a:ext cx="4884127" cy="1344246"/>
          </a:xfrm>
          <a:prstGeom prst="roundRect">
            <a:avLst>
              <a:gd name="adj" fmla="val 14"/>
            </a:avLst>
          </a:prstGeom>
          <a:solidFill>
            <a:srgbClr val="B0C1D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63500" dir="2400000" algn="ctr" rotWithShape="0">
              <a:srgbClr val="000000">
                <a:alpha val="3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258167" y="1232877"/>
            <a:ext cx="2998341" cy="2056423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76200" dir="1200000" algn="ctr" rotWithShape="0">
              <a:srgbClr val="000000">
                <a:alpha val="2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65207" y="3209192"/>
            <a:ext cx="3340100" cy="1581639"/>
          </a:xfrm>
          <a:prstGeom prst="roundRect">
            <a:avLst>
              <a:gd name="adj" fmla="val 0"/>
            </a:avLst>
          </a:prstGeom>
          <a:solidFill>
            <a:srgbClr val="4347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127000" dir="5400000" algn="bl" rotWithShape="0">
              <a:srgbClr val="808080">
                <a:alpha val="10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36281" y="1351818"/>
            <a:ext cx="2442112" cy="37513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边缘分支</a:t>
            </a:r>
            <a:r>
              <a:rPr lang="en-US" sz="16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(Edge Branch)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365207" y="1807064"/>
            <a:ext cx="2824139" cy="116546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50000"/>
              </a:lnSpc>
            </a:pPr>
            <a:r>
              <a:rPr lang="zh-CN" altLang="en-US" sz="1100" b="1" dirty="0">
                <a:solidFill>
                  <a:schemeClr val="bg1"/>
                </a:solidFill>
              </a:rPr>
              <a:t>输入</a:t>
            </a:r>
            <a:r>
              <a:rPr lang="zh-CN" altLang="en-US" sz="1100" dirty="0">
                <a:solidFill>
                  <a:schemeClr val="bg1"/>
                </a:solidFill>
              </a:rPr>
              <a:t>：解码器最浅层特征 </a:t>
            </a:r>
            <a:r>
              <a:rPr lang="en-US" altLang="zh-CN" sz="1100" dirty="0">
                <a:solidFill>
                  <a:schemeClr val="bg1"/>
                </a:solidFill>
              </a:rPr>
              <a:t>skip0</a:t>
            </a:r>
            <a:r>
              <a:rPr lang="zh-CN" altLang="en-US" sz="1100" dirty="0">
                <a:solidFill>
                  <a:schemeClr val="bg1"/>
                </a:solidFill>
              </a:rPr>
              <a:t>（分辨率最高）</a:t>
            </a:r>
          </a:p>
          <a:p>
            <a:pPr>
              <a:lnSpc>
                <a:spcPct val="150000"/>
              </a:lnSpc>
            </a:pPr>
            <a:r>
              <a:rPr lang="zh-CN" altLang="en-US" sz="1100" b="1" dirty="0">
                <a:solidFill>
                  <a:schemeClr val="bg1"/>
                </a:solidFill>
              </a:rPr>
              <a:t>结构</a:t>
            </a:r>
            <a:r>
              <a:rPr lang="zh-CN" altLang="en-US" sz="1100" dirty="0">
                <a:solidFill>
                  <a:schemeClr val="bg1"/>
                </a:solidFill>
              </a:rPr>
              <a:t>：</a:t>
            </a:r>
            <a:r>
              <a:rPr lang="en-US" altLang="zh-CN" sz="1100" dirty="0">
                <a:solidFill>
                  <a:schemeClr val="bg1"/>
                </a:solidFill>
              </a:rPr>
              <a:t>2</a:t>
            </a:r>
            <a:r>
              <a:rPr lang="zh-CN" altLang="en-US" sz="1100" dirty="0">
                <a:solidFill>
                  <a:schemeClr val="bg1"/>
                </a:solidFill>
              </a:rPr>
              <a:t>层轻量卷积 → </a:t>
            </a:r>
            <a:r>
              <a:rPr lang="en-US" altLang="zh-CN" sz="1100" dirty="0" err="1">
                <a:solidFill>
                  <a:schemeClr val="bg1"/>
                </a:solidFill>
              </a:rPr>
              <a:t>edge_logits</a:t>
            </a:r>
            <a:endParaRPr lang="en-US" altLang="zh-CN" sz="11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100" b="1" dirty="0">
                <a:solidFill>
                  <a:schemeClr val="bg1"/>
                </a:solidFill>
              </a:rPr>
              <a:t>输出</a:t>
            </a:r>
            <a:r>
              <a:rPr lang="zh-CN" altLang="en-US" sz="1100" dirty="0">
                <a:solidFill>
                  <a:schemeClr val="bg1"/>
                </a:solidFill>
              </a:rPr>
              <a:t>：经</a:t>
            </a:r>
            <a:r>
              <a:rPr lang="en-US" altLang="zh-CN" sz="1100" dirty="0">
                <a:solidFill>
                  <a:schemeClr val="bg1"/>
                </a:solidFill>
              </a:rPr>
              <a:t>sigmoid</a:t>
            </a:r>
            <a:r>
              <a:rPr lang="zh-CN" altLang="en-US" sz="1100" dirty="0">
                <a:solidFill>
                  <a:schemeClr val="bg1"/>
                </a:solidFill>
              </a:rPr>
              <a:t>转为边缘概率图 </a:t>
            </a:r>
            <a:r>
              <a:rPr lang="en-US" altLang="zh-CN" sz="1100" dirty="0" err="1">
                <a:solidFill>
                  <a:schemeClr val="bg1"/>
                </a:solidFill>
              </a:rPr>
              <a:t>P_edge</a:t>
            </a:r>
            <a:endParaRPr lang="en-US" altLang="zh-CN" sz="11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100" b="1" dirty="0">
                <a:solidFill>
                  <a:schemeClr val="bg1"/>
                </a:solidFill>
              </a:rPr>
              <a:t>作用</a:t>
            </a:r>
            <a:r>
              <a:rPr lang="zh-CN" altLang="en-US" sz="1100" dirty="0">
                <a:solidFill>
                  <a:schemeClr val="bg1"/>
                </a:solidFill>
              </a:rPr>
              <a:t>：显式学习深度不连续边界</a:t>
            </a:r>
          </a:p>
        </p:txBody>
      </p:sp>
      <p:sp>
        <p:nvSpPr>
          <p:cNvPr id="7" name="AutoShape 7"/>
          <p:cNvSpPr/>
          <p:nvPr/>
        </p:nvSpPr>
        <p:spPr>
          <a:xfrm>
            <a:off x="3903786" y="3622432"/>
            <a:ext cx="3445607" cy="3873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边缘监督损失</a:t>
            </a:r>
            <a:r>
              <a:rPr lang="en-US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(Edge Supervision Loss)</a:t>
            </a:r>
            <a:endParaRPr lang="en-US" dirty="0"/>
          </a:p>
        </p:txBody>
      </p:sp>
      <p:sp>
        <p:nvSpPr>
          <p:cNvPr id="8" name="AutoShape 8"/>
          <p:cNvSpPr/>
          <p:nvPr/>
        </p:nvSpPr>
        <p:spPr>
          <a:xfrm>
            <a:off x="3767506" y="4047393"/>
            <a:ext cx="4602772" cy="97936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r>
              <a:rPr lang="zh-CN" altLang="en-US" sz="1200" b="1" dirty="0"/>
              <a:t>目标构造</a:t>
            </a:r>
            <a:r>
              <a:rPr lang="zh-CN" altLang="en-US" sz="1200" dirty="0"/>
              <a:t>：从 </a:t>
            </a:r>
            <a:r>
              <a:rPr lang="en-US" altLang="zh-CN" sz="1200" dirty="0" err="1"/>
              <a:t>depth_gt</a:t>
            </a:r>
            <a:r>
              <a:rPr lang="en-US" altLang="zh-CN" sz="1200" dirty="0"/>
              <a:t> </a:t>
            </a:r>
            <a:r>
              <a:rPr lang="zh-CN" altLang="en-US" sz="1200" dirty="0"/>
              <a:t>计算局部差分 → 二值化边缘标签</a:t>
            </a:r>
          </a:p>
          <a:p>
            <a:r>
              <a:rPr lang="zh-CN" altLang="en-US" sz="1200" b="1" dirty="0"/>
              <a:t>损失函数</a:t>
            </a:r>
            <a:r>
              <a:rPr lang="zh-CN" altLang="en-US" sz="1200" dirty="0"/>
              <a:t>：</a:t>
            </a:r>
            <a:r>
              <a:rPr lang="en-US" altLang="zh-CN" sz="1200" dirty="0" err="1"/>
              <a:t>L_edge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BCEWithLogitsLoss</a:t>
            </a:r>
            <a:r>
              <a:rPr lang="en-US" altLang="zh-CN" sz="1200" dirty="0"/>
              <a:t>(</a:t>
            </a:r>
            <a:r>
              <a:rPr lang="en-US" altLang="zh-CN" sz="1200" dirty="0" err="1"/>
              <a:t>edge_logits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edge_target</a:t>
            </a:r>
            <a:r>
              <a:rPr lang="en-US" altLang="zh-CN" sz="1200" dirty="0"/>
              <a:t>)</a:t>
            </a:r>
          </a:p>
          <a:p>
            <a:r>
              <a:rPr lang="zh-CN" altLang="en-US" sz="1200" b="1" dirty="0"/>
              <a:t>总损失</a:t>
            </a:r>
            <a:r>
              <a:rPr lang="zh-CN" altLang="en-US" sz="1200" dirty="0"/>
              <a:t>：</a:t>
            </a:r>
            <a:r>
              <a:rPr lang="en-US" altLang="zh-CN" sz="1200" dirty="0" err="1"/>
              <a:t>L_total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L_depth</a:t>
            </a:r>
            <a:r>
              <a:rPr lang="en-US" altLang="zh-CN" sz="1200" dirty="0"/>
              <a:t> + </a:t>
            </a:r>
            <a:r>
              <a:rPr lang="el-GR" altLang="zh-CN" sz="1200" dirty="0"/>
              <a:t>λ × </a:t>
            </a:r>
            <a:r>
              <a:rPr lang="en-US" altLang="zh-CN" sz="1200" dirty="0" err="1"/>
              <a:t>L_edge</a:t>
            </a:r>
            <a:r>
              <a:rPr lang="zh-CN" altLang="en-US" sz="1200" dirty="0"/>
              <a:t>（</a:t>
            </a:r>
            <a:r>
              <a:rPr lang="el-GR" altLang="zh-CN" sz="1200" dirty="0"/>
              <a:t>λ=0.05/0.02</a:t>
            </a:r>
            <a:r>
              <a:rPr lang="zh-CN" altLang="el-GR" sz="1200" dirty="0"/>
              <a:t>）</a:t>
            </a:r>
          </a:p>
          <a:p>
            <a:r>
              <a:rPr lang="zh-CN" altLang="en-US" sz="1200" b="1" dirty="0"/>
              <a:t>意义</a:t>
            </a:r>
            <a:r>
              <a:rPr lang="zh-CN" altLang="en-US" sz="1200" dirty="0"/>
              <a:t>：强制分支学习真实几何边界，而非纹理边缘</a:t>
            </a:r>
          </a:p>
        </p:txBody>
      </p:sp>
      <p:sp>
        <p:nvSpPr>
          <p:cNvPr id="9" name="AutoShape 9"/>
          <p:cNvSpPr/>
          <p:nvPr/>
        </p:nvSpPr>
        <p:spPr>
          <a:xfrm>
            <a:off x="53283" y="119175"/>
            <a:ext cx="4276481" cy="492858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7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核心机制：边缘引导融合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54107" y="3369408"/>
            <a:ext cx="3149600" cy="1421423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1" i="0" u="none" strike="noStrike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微软雅黑"/>
              </a:rPr>
              <a:t>边缘引导融合</a:t>
            </a:r>
            <a:r>
              <a:rPr lang="en-US" sz="1400" b="1" i="0" u="none" strike="noStrike" dirty="0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微软雅黑"/>
              </a:rPr>
              <a:t> (Edge-Guided Fusion)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altLang="zh-CN" sz="1100" b="1" dirty="0">
              <a:solidFill>
                <a:schemeClr val="bg1"/>
              </a:solidFill>
            </a:endParaRPr>
          </a:p>
          <a:p>
            <a:r>
              <a:rPr lang="zh-CN" altLang="en-US" sz="1100" b="1" dirty="0">
                <a:solidFill>
                  <a:schemeClr val="bg1"/>
                </a:solidFill>
              </a:rPr>
              <a:t>调制公式</a:t>
            </a:r>
            <a:r>
              <a:rPr lang="zh-CN" altLang="en-US" sz="1100" dirty="0">
                <a:solidFill>
                  <a:schemeClr val="bg1"/>
                </a:solidFill>
              </a:rPr>
              <a:t>：</a:t>
            </a:r>
            <a:r>
              <a:rPr lang="en-US" altLang="zh-CN" sz="1100" dirty="0">
                <a:solidFill>
                  <a:schemeClr val="bg1"/>
                </a:solidFill>
              </a:rPr>
              <a:t>F' = F × (1 + </a:t>
            </a:r>
            <a:r>
              <a:rPr lang="en-US" altLang="zh-CN" sz="1100" dirty="0" err="1">
                <a:solidFill>
                  <a:schemeClr val="bg1"/>
                </a:solidFill>
              </a:rPr>
              <a:t>P_edge</a:t>
            </a:r>
            <a:r>
              <a:rPr lang="en-US" altLang="zh-CN" sz="1100" dirty="0">
                <a:solidFill>
                  <a:schemeClr val="bg1"/>
                </a:solidFill>
              </a:rPr>
              <a:t>)</a:t>
            </a:r>
            <a:endParaRPr lang="zh-CN" altLang="en-US" sz="1100" dirty="0">
              <a:solidFill>
                <a:schemeClr val="bg1"/>
              </a:solidFill>
            </a:endParaRPr>
          </a:p>
          <a:p>
            <a:r>
              <a:rPr lang="zh-CN" altLang="en-US" sz="1100" b="1" dirty="0">
                <a:solidFill>
                  <a:schemeClr val="bg1"/>
                </a:solidFill>
              </a:rPr>
              <a:t>机制</a:t>
            </a:r>
            <a:r>
              <a:rPr lang="zh-CN" altLang="en-US" sz="1100" dirty="0">
                <a:solidFill>
                  <a:schemeClr val="bg1"/>
                </a:solidFill>
              </a:rPr>
              <a:t>：在预测为边界的位置放大特征响应</a:t>
            </a:r>
          </a:p>
          <a:p>
            <a:r>
              <a:rPr lang="zh-CN" altLang="en-US" sz="1100" b="1" dirty="0">
                <a:solidFill>
                  <a:schemeClr val="bg1"/>
                </a:solidFill>
              </a:rPr>
              <a:t>融合输入</a:t>
            </a:r>
            <a:r>
              <a:rPr lang="zh-CN" altLang="en-US" sz="1100" dirty="0">
                <a:solidFill>
                  <a:schemeClr val="bg1"/>
                </a:solidFill>
              </a:rPr>
              <a:t>：</a:t>
            </a:r>
            <a:r>
              <a:rPr lang="en-US" altLang="zh-CN" sz="1100" dirty="0">
                <a:solidFill>
                  <a:schemeClr val="bg1"/>
                </a:solidFill>
              </a:rPr>
              <a:t>[</a:t>
            </a:r>
            <a:r>
              <a:rPr lang="zh-CN" altLang="en-US" sz="1100" dirty="0">
                <a:solidFill>
                  <a:schemeClr val="bg1"/>
                </a:solidFill>
              </a:rPr>
              <a:t>调制后特征</a:t>
            </a:r>
            <a:r>
              <a:rPr lang="en-US" altLang="zh-CN" sz="1100" dirty="0">
                <a:solidFill>
                  <a:schemeClr val="bg1"/>
                </a:solidFill>
              </a:rPr>
              <a:t>, reduc1x1, 3</a:t>
            </a:r>
            <a:r>
              <a:rPr lang="zh-CN" altLang="en-US" sz="1100" dirty="0">
                <a:solidFill>
                  <a:schemeClr val="bg1"/>
                </a:solidFill>
              </a:rPr>
              <a:t>尺度深度图</a:t>
            </a:r>
            <a:r>
              <a:rPr lang="en-US" altLang="zh-CN" sz="1100" dirty="0">
                <a:solidFill>
                  <a:schemeClr val="bg1"/>
                </a:solidFill>
              </a:rPr>
              <a:t>, </a:t>
            </a:r>
            <a:r>
              <a:rPr lang="en-US" altLang="zh-CN" sz="1100" dirty="0" err="1">
                <a:solidFill>
                  <a:schemeClr val="bg1"/>
                </a:solidFill>
              </a:rPr>
              <a:t>P_edge</a:t>
            </a:r>
            <a:r>
              <a:rPr lang="en-US" altLang="zh-CN" sz="1100" dirty="0">
                <a:solidFill>
                  <a:schemeClr val="bg1"/>
                </a:solidFill>
              </a:rPr>
              <a:t>]</a:t>
            </a:r>
          </a:p>
          <a:p>
            <a:r>
              <a:rPr lang="zh-CN" altLang="en-US" sz="1100" b="1" dirty="0">
                <a:solidFill>
                  <a:schemeClr val="bg1"/>
                </a:solidFill>
              </a:rPr>
              <a:t>效果</a:t>
            </a:r>
            <a:r>
              <a:rPr lang="zh-CN" altLang="en-US" sz="1100" dirty="0">
                <a:solidFill>
                  <a:schemeClr val="bg1"/>
                </a:solidFill>
              </a:rPr>
              <a:t>：边界区域深度预测更锐利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EF23745-F012-596C-1BD4-59FE2B485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496" y="612033"/>
            <a:ext cx="5372221" cy="2567649"/>
          </a:xfrm>
          <a:prstGeom prst="rect">
            <a:avLst/>
          </a:prstGeom>
          <a:effectLst>
            <a:outerShdw blurRad="76200" dist="63500" dir="3600000" algn="ctr" rotWithShape="0">
              <a:srgbClr val="000000">
                <a:alpha val="35000"/>
              </a:srgbClr>
            </a:outerShdw>
          </a:effec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C80BE26-CE9D-BE77-23A2-E7F4700AF559}"/>
              </a:ext>
            </a:extLst>
          </p:cNvPr>
          <p:cNvSpPr txBox="1"/>
          <p:nvPr/>
        </p:nvSpPr>
        <p:spPr>
          <a:xfrm>
            <a:off x="5438695" y="3246282"/>
            <a:ext cx="2260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边缘分支与深度特征融合机制示意图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4867" y="973504"/>
            <a:ext cx="2146300" cy="2298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r">
              <a:lnSpc>
                <a:spcPct val="116666"/>
              </a:lnSpc>
              <a:defRPr/>
            </a:pPr>
            <a:r>
              <a:rPr lang="en-US" sz="10900" b="1" i="0" u="none" strike="noStrike" dirty="0">
                <a:solidFill>
                  <a:srgbClr val="B0C1D8"/>
                </a:solidFill>
                <a:latin typeface="微软雅黑"/>
                <a:ea typeface="微软雅黑"/>
                <a:cs typeface="微软雅黑"/>
                <a:sym typeface="微软雅黑"/>
              </a:rPr>
              <a:t>05</a:t>
            </a:r>
            <a:endParaRPr lang="en-US" sz="1100" dirty="0"/>
          </a:p>
        </p:txBody>
      </p:sp>
      <p:sp>
        <p:nvSpPr>
          <p:cNvPr id="3" name="Freeform 3"/>
          <p:cNvSpPr/>
          <p:nvPr/>
        </p:nvSpPr>
        <p:spPr>
          <a:xfrm>
            <a:off x="0" y="2512314"/>
            <a:ext cx="3708646" cy="118872"/>
          </a:xfrm>
          <a:custGeom>
            <a:avLst/>
            <a:gdLst/>
            <a:ahLst/>
            <a:cxnLst/>
            <a:rect l="l" t="t" r="r" b="b"/>
            <a:pathLst>
              <a:path w="3708646" h="118872">
                <a:moveTo>
                  <a:pt x="0" y="0"/>
                </a:moveTo>
                <a:lnTo>
                  <a:pt x="3708646" y="0"/>
                </a:lnTo>
                <a:lnTo>
                  <a:pt x="3708646" y="118872"/>
                </a:lnTo>
                <a:lnTo>
                  <a:pt x="0" y="118872"/>
                </a:lnTo>
                <a:close/>
              </a:path>
            </a:pathLst>
          </a:custGeom>
          <a:solidFill>
            <a:srgbClr val="4347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250133" y="1689038"/>
            <a:ext cx="1054100" cy="482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PART</a:t>
            </a:r>
            <a:endParaRPr lang="en-US" sz="1800" dirty="0"/>
          </a:p>
        </p:txBody>
      </p:sp>
      <p:sp>
        <p:nvSpPr>
          <p:cNvPr id="5" name="AutoShape 5"/>
          <p:cNvSpPr/>
          <p:nvPr/>
        </p:nvSpPr>
        <p:spPr>
          <a:xfrm>
            <a:off x="5062812" y="1689038"/>
            <a:ext cx="1054100" cy="482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1" i="0" u="none" strike="noStrike" dirty="0">
                <a:solidFill>
                  <a:srgbClr val="B0C1D8"/>
                </a:solidFill>
                <a:latin typeface="微软雅黑"/>
                <a:ea typeface="微软雅黑"/>
                <a:cs typeface="微软雅黑"/>
                <a:sym typeface="微软雅黑"/>
              </a:rPr>
              <a:t>FIVE</a:t>
            </a:r>
            <a:endParaRPr lang="en-US" sz="1800" dirty="0"/>
          </a:p>
        </p:txBody>
      </p:sp>
      <p:sp>
        <p:nvSpPr>
          <p:cNvPr id="6" name="AutoShape 6"/>
          <p:cNvSpPr/>
          <p:nvPr/>
        </p:nvSpPr>
        <p:spPr>
          <a:xfrm>
            <a:off x="3955331" y="2261129"/>
            <a:ext cx="3865391" cy="554892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8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实验验证与多维评估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3186980" y="2864867"/>
            <a:ext cx="6083300" cy="317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D9D9D9">
                    <a:alpha val="80000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Experimental Validation and Multidimensional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9">
            <a:extLst>
              <a:ext uri="{FF2B5EF4-FFF2-40B4-BE49-F238E27FC236}">
                <a16:creationId xmlns:a16="http://schemas.microsoft.com/office/drawing/2014/main" id="{4D265F5A-51F6-E5B3-AB88-228507870500}"/>
              </a:ext>
            </a:extLst>
          </p:cNvPr>
          <p:cNvSpPr/>
          <p:nvPr/>
        </p:nvSpPr>
        <p:spPr>
          <a:xfrm>
            <a:off x="53283" y="119175"/>
            <a:ext cx="2268277" cy="492858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7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对比实验结果</a:t>
            </a:r>
            <a:endParaRPr lang="en-US" sz="11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1B7D58-03AC-39F2-9EF1-F03DDCA69427}"/>
              </a:ext>
            </a:extLst>
          </p:cNvPr>
          <p:cNvSpPr txBox="1"/>
          <p:nvPr/>
        </p:nvSpPr>
        <p:spPr>
          <a:xfrm>
            <a:off x="1084580" y="853907"/>
            <a:ext cx="22682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🏠 NYUv2 (室内场景)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310400-80ED-4CD9-FE35-05DDF4BA2FCD}"/>
              </a:ext>
            </a:extLst>
          </p:cNvPr>
          <p:cNvSpPr txBox="1"/>
          <p:nvPr/>
        </p:nvSpPr>
        <p:spPr>
          <a:xfrm>
            <a:off x="5514340" y="853907"/>
            <a:ext cx="2324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🌄 DIODE (复杂场景) 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97808595-69BE-2649-C59E-78FAEF37F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561712"/>
              </p:ext>
            </p:extLst>
          </p:nvPr>
        </p:nvGraphicFramePr>
        <p:xfrm>
          <a:off x="279400" y="1357630"/>
          <a:ext cx="3881120" cy="2428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70280">
                  <a:extLst>
                    <a:ext uri="{9D8B030D-6E8A-4147-A177-3AD203B41FA5}">
                      <a16:colId xmlns:a16="http://schemas.microsoft.com/office/drawing/2014/main" val="2276889405"/>
                    </a:ext>
                  </a:extLst>
                </a:gridCol>
                <a:gridCol w="970280">
                  <a:extLst>
                    <a:ext uri="{9D8B030D-6E8A-4147-A177-3AD203B41FA5}">
                      <a16:colId xmlns:a16="http://schemas.microsoft.com/office/drawing/2014/main" val="3229702446"/>
                    </a:ext>
                  </a:extLst>
                </a:gridCol>
                <a:gridCol w="970280">
                  <a:extLst>
                    <a:ext uri="{9D8B030D-6E8A-4147-A177-3AD203B41FA5}">
                      <a16:colId xmlns:a16="http://schemas.microsoft.com/office/drawing/2014/main" val="1506880121"/>
                    </a:ext>
                  </a:extLst>
                </a:gridCol>
                <a:gridCol w="970280">
                  <a:extLst>
                    <a:ext uri="{9D8B030D-6E8A-4147-A177-3AD203B41FA5}">
                      <a16:colId xmlns:a16="http://schemas.microsoft.com/office/drawing/2014/main" val="24119554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effectLst/>
                        </a:rPr>
                        <a:t>指标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BTS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Edge-Guided BTS (w=0.05)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effectLst/>
                        </a:rPr>
                        <a:t>变化幅度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70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silog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16.256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16.077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effectLst/>
                        </a:rPr>
                        <a:t>↓ </a:t>
                      </a:r>
                      <a:r>
                        <a:rPr lang="en-US" altLang="zh-CN">
                          <a:effectLst/>
                        </a:rPr>
                        <a:t>1.1%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655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abs_rel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0.168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0.166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effectLst/>
                        </a:rPr>
                        <a:t>↓ </a:t>
                      </a:r>
                      <a:r>
                        <a:rPr lang="en-US" altLang="zh-CN">
                          <a:effectLst/>
                        </a:rPr>
                        <a:t>1.2%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10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RMSE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0.547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0.537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effectLst/>
                        </a:rPr>
                        <a:t>↓ </a:t>
                      </a:r>
                      <a:r>
                        <a:rPr lang="en-US" altLang="zh-CN" dirty="0">
                          <a:effectLst/>
                        </a:rPr>
                        <a:t>1.8%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318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d1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0.768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effectLst/>
                        </a:rPr>
                        <a:t>↑ </a:t>
                      </a:r>
                      <a:r>
                        <a:rPr lang="en-US" altLang="zh-CN" dirty="0">
                          <a:effectLst/>
                        </a:rPr>
                        <a:t>0.7%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062841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8B70B4EE-09EE-667C-C776-457E695BD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326620"/>
              </p:ext>
            </p:extLst>
          </p:nvPr>
        </p:nvGraphicFramePr>
        <p:xfrm>
          <a:off x="4735830" y="1357630"/>
          <a:ext cx="3881120" cy="2428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70280">
                  <a:extLst>
                    <a:ext uri="{9D8B030D-6E8A-4147-A177-3AD203B41FA5}">
                      <a16:colId xmlns:a16="http://schemas.microsoft.com/office/drawing/2014/main" val="2161670838"/>
                    </a:ext>
                  </a:extLst>
                </a:gridCol>
                <a:gridCol w="970280">
                  <a:extLst>
                    <a:ext uri="{9D8B030D-6E8A-4147-A177-3AD203B41FA5}">
                      <a16:colId xmlns:a16="http://schemas.microsoft.com/office/drawing/2014/main" val="2845347503"/>
                    </a:ext>
                  </a:extLst>
                </a:gridCol>
                <a:gridCol w="970280">
                  <a:extLst>
                    <a:ext uri="{9D8B030D-6E8A-4147-A177-3AD203B41FA5}">
                      <a16:colId xmlns:a16="http://schemas.microsoft.com/office/drawing/2014/main" val="1247883323"/>
                    </a:ext>
                  </a:extLst>
                </a:gridCol>
                <a:gridCol w="970280">
                  <a:extLst>
                    <a:ext uri="{9D8B030D-6E8A-4147-A177-3AD203B41FA5}">
                      <a16:colId xmlns:a16="http://schemas.microsoft.com/office/drawing/2014/main" val="3351284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effectLst/>
                        </a:rPr>
                        <a:t>指标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BTS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Edge-Guided BTS (w=0.02)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effectLst/>
                        </a:rPr>
                        <a:t>变化幅度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061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silog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32.348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32.192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effectLst/>
                        </a:rPr>
                        <a:t>↓ </a:t>
                      </a:r>
                      <a:r>
                        <a:rPr lang="en-US" altLang="zh-CN">
                          <a:effectLst/>
                        </a:rPr>
                        <a:t>0.5%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463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abs_rel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0.542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0.516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effectLst/>
                        </a:rPr>
                        <a:t>↓ </a:t>
                      </a:r>
                      <a:r>
                        <a:rPr lang="en-US" altLang="zh-CN">
                          <a:effectLst/>
                        </a:rPr>
                        <a:t>4.8%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1571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RMSE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1.773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1.741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effectLst/>
                        </a:rPr>
                        <a:t>↓ </a:t>
                      </a:r>
                      <a:r>
                        <a:rPr lang="en-US" altLang="zh-CN">
                          <a:effectLst/>
                        </a:rPr>
                        <a:t>1.8%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01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effectLst/>
                        </a:rPr>
                        <a:t>d1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0.411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0.433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effectLst/>
                        </a:rPr>
                        <a:t>↑ </a:t>
                      </a:r>
                      <a:r>
                        <a:rPr lang="en-US" altLang="zh-CN" dirty="0">
                          <a:effectLst/>
                        </a:rPr>
                        <a:t>5.4%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761737"/>
                  </a:ext>
                </a:extLst>
              </a:tr>
            </a:tbl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2E6B9D5B-7A08-3AF5-627A-74960236EF8D}"/>
              </a:ext>
            </a:extLst>
          </p:cNvPr>
          <p:cNvSpPr txBox="1"/>
          <p:nvPr/>
        </p:nvSpPr>
        <p:spPr>
          <a:xfrm>
            <a:off x="794963" y="4070218"/>
            <a:ext cx="53315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💡 核心结论：</a:t>
            </a:r>
            <a:endParaRPr lang="en-US" altLang="zh-CN" dirty="0"/>
          </a:p>
          <a:p>
            <a:r>
              <a:rPr lang="zh-CN" altLang="en-US" dirty="0"/>
              <a:t>• 两项数据集所有关键指标均优于 Baseline </a:t>
            </a:r>
            <a:endParaRPr lang="en-US" altLang="zh-CN" dirty="0"/>
          </a:p>
          <a:p>
            <a:r>
              <a:rPr lang="zh-CN" altLang="en-US" dirty="0"/>
              <a:t>• DIODE 的 abs_rel 与 d1 提升最显著（&gt;4.8%）</a:t>
            </a:r>
            <a:endParaRPr lang="en-US" altLang="zh-CN" dirty="0"/>
          </a:p>
          <a:p>
            <a:r>
              <a:rPr lang="zh-CN" altLang="en-US" dirty="0"/>
              <a:t>• 最佳权重因场景复杂度而异（NYUv2:w=0.05, DIODE:w=0.02）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16CB04F-CBB0-3C3D-CA4C-6CAB77F8ADE3}"/>
              </a:ext>
            </a:extLst>
          </p:cNvPr>
          <p:cNvSpPr txBox="1"/>
          <p:nvPr/>
        </p:nvSpPr>
        <p:spPr>
          <a:xfrm>
            <a:off x="4735830" y="3951039"/>
            <a:ext cx="41072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📊 指标说明：silog、abs_rel、RMSE 为误差指标，数值越低代表预测越精确；d1 为精度达标率指标，数值越高代表高精度像素占比越大。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9">
            <a:extLst>
              <a:ext uri="{FF2B5EF4-FFF2-40B4-BE49-F238E27FC236}">
                <a16:creationId xmlns:a16="http://schemas.microsoft.com/office/drawing/2014/main" id="{928EFB9F-55E0-8A04-912D-B8CBB9910556}"/>
              </a:ext>
            </a:extLst>
          </p:cNvPr>
          <p:cNvSpPr/>
          <p:nvPr/>
        </p:nvSpPr>
        <p:spPr>
          <a:xfrm>
            <a:off x="53283" y="119175"/>
            <a:ext cx="2553636" cy="492858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7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结果可视化对比</a:t>
            </a:r>
            <a:endParaRPr lang="en-US" sz="11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3CC038-8580-73CA-D3F5-2E538826B857}"/>
              </a:ext>
            </a:extLst>
          </p:cNvPr>
          <p:cNvSpPr txBox="1"/>
          <p:nvPr/>
        </p:nvSpPr>
        <p:spPr>
          <a:xfrm>
            <a:off x="1106561" y="686854"/>
            <a:ext cx="22682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🏠 NYUv2 (室内场景)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8F7AF2-6790-6916-334E-B98C41557B46}"/>
              </a:ext>
            </a:extLst>
          </p:cNvPr>
          <p:cNvSpPr txBox="1"/>
          <p:nvPr/>
        </p:nvSpPr>
        <p:spPr>
          <a:xfrm>
            <a:off x="5536321" y="686854"/>
            <a:ext cx="2324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🌄 DIODE (复杂场景) 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42779B6-0DF2-BCD6-CCD7-E241254B4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58" y="1025408"/>
            <a:ext cx="3407106" cy="3341077"/>
          </a:xfrm>
          <a:prstGeom prst="rect">
            <a:avLst/>
          </a:prstGeom>
          <a:effectLst>
            <a:outerShdw blurRad="63500" dist="76200" dir="90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0EAC13A-BE64-E657-0B85-B71A65AF4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936" y="1025408"/>
            <a:ext cx="3440627" cy="3341077"/>
          </a:xfrm>
          <a:prstGeom prst="rect">
            <a:avLst/>
          </a:prstGeom>
          <a:effectLst>
            <a:outerShdw blurRad="76200" dist="63500" dir="90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1A43E98-BF3D-91DC-081C-886020FD4E48}"/>
              </a:ext>
            </a:extLst>
          </p:cNvPr>
          <p:cNvSpPr txBox="1"/>
          <p:nvPr/>
        </p:nvSpPr>
        <p:spPr>
          <a:xfrm>
            <a:off x="1524000" y="4358670"/>
            <a:ext cx="644144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2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ystem-ui"/>
              </a:rPr>
              <a:t>视觉分析结论</a:t>
            </a:r>
            <a:r>
              <a:rPr lang="zh-CN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ystem-ui"/>
              </a:rPr>
              <a:t>：</a:t>
            </a:r>
          </a:p>
          <a:p>
            <a:pPr algn="l"/>
            <a:r>
              <a:rPr lang="zh-CN" altLang="en-US" sz="11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ystem-ui"/>
              </a:rPr>
              <a:t>边界锐化</a:t>
            </a:r>
            <a:r>
              <a:rPr lang="zh-CN" altLang="en-US" sz="11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ystem-ui"/>
              </a:rPr>
              <a:t>：</a:t>
            </a:r>
            <a:r>
              <a:rPr lang="en-US" altLang="zh-CN" sz="11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ystem-ui"/>
              </a:rPr>
              <a:t>Edge-Guided </a:t>
            </a:r>
            <a:r>
              <a:rPr lang="zh-CN" altLang="en-US" sz="11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ystem-ui"/>
              </a:rPr>
              <a:t>模型显著改善了物体轮廓（如洗手台、门框）的模糊拖尾现象。</a:t>
            </a:r>
          </a:p>
          <a:p>
            <a:pPr algn="l"/>
            <a:r>
              <a:rPr lang="zh-CN" altLang="en-US" sz="11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ystem-ui"/>
              </a:rPr>
              <a:t>细节保留</a:t>
            </a:r>
            <a:r>
              <a:rPr lang="zh-CN" altLang="en-US" sz="11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ystem-ui"/>
              </a:rPr>
              <a:t>：在复杂场景（</a:t>
            </a:r>
            <a:r>
              <a:rPr lang="en-US" altLang="zh-CN" sz="11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ystem-ui"/>
              </a:rPr>
              <a:t>DIODE</a:t>
            </a:r>
            <a:r>
              <a:rPr lang="zh-CN" altLang="en-US" sz="11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ystem-ui"/>
              </a:rPr>
              <a:t>）中，有效减少了前景与背景的深度混叠。</a:t>
            </a:r>
          </a:p>
          <a:p>
            <a:pPr algn="l"/>
            <a:r>
              <a:rPr lang="zh-CN" altLang="en-US" sz="11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ystem-ui"/>
              </a:rPr>
              <a:t>过平滑缓解</a:t>
            </a:r>
            <a:r>
              <a:rPr lang="zh-CN" altLang="en-US" sz="11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ystem-ui"/>
              </a:rPr>
              <a:t>：深度跳变区域过渡更陡峭，验证了边缘引导机制的有效性。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9">
            <a:extLst>
              <a:ext uri="{FF2B5EF4-FFF2-40B4-BE49-F238E27FC236}">
                <a16:creationId xmlns:a16="http://schemas.microsoft.com/office/drawing/2014/main" id="{5FAC68BD-7052-CAB8-B947-C24A77DDFB0F}"/>
              </a:ext>
            </a:extLst>
          </p:cNvPr>
          <p:cNvSpPr/>
          <p:nvPr/>
        </p:nvSpPr>
        <p:spPr>
          <a:xfrm>
            <a:off x="53283" y="119175"/>
            <a:ext cx="1894050" cy="492858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7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消融实验</a:t>
            </a:r>
            <a:endParaRPr lang="en-US" sz="11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FD0229-4CA8-7314-039C-C3B57EB71E2A}"/>
              </a:ext>
            </a:extLst>
          </p:cNvPr>
          <p:cNvSpPr txBox="1"/>
          <p:nvPr/>
        </p:nvSpPr>
        <p:spPr>
          <a:xfrm>
            <a:off x="1344539" y="558531"/>
            <a:ext cx="18244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chemeClr val="tx1"/>
                </a:solidFill>
                <a:effectLst/>
                <a:latin typeface="system-ui"/>
              </a:rPr>
              <a:t>NYUv2 </a:t>
            </a:r>
            <a:r>
              <a:rPr lang="zh-CN" altLang="en-US" b="1" i="0" dirty="0">
                <a:solidFill>
                  <a:schemeClr val="tx1"/>
                </a:solidFill>
                <a:effectLst/>
                <a:latin typeface="system-ui"/>
              </a:rPr>
              <a:t>数据集 </a:t>
            </a:r>
            <a:r>
              <a:rPr lang="en-US" altLang="zh-CN" b="1" i="0" dirty="0">
                <a:solidFill>
                  <a:schemeClr val="tx1"/>
                </a:solidFill>
                <a:effectLst/>
                <a:latin typeface="system-ui"/>
              </a:rPr>
              <a:t>(</a:t>
            </a:r>
            <a:r>
              <a:rPr lang="zh-CN" altLang="en-US" b="1" i="0" dirty="0">
                <a:solidFill>
                  <a:schemeClr val="tx1"/>
                </a:solidFill>
                <a:effectLst/>
                <a:latin typeface="system-ui"/>
              </a:rPr>
              <a:t>室内</a:t>
            </a:r>
            <a:r>
              <a:rPr lang="en-US" altLang="zh-CN" b="1" i="0" dirty="0">
                <a:solidFill>
                  <a:schemeClr val="tx1"/>
                </a:solidFill>
                <a:effectLst/>
                <a:latin typeface="system-ui"/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4800AD8-6053-68BA-525C-5A2DB05A4C3D}"/>
              </a:ext>
            </a:extLst>
          </p:cNvPr>
          <p:cNvSpPr txBox="1"/>
          <p:nvPr/>
        </p:nvSpPr>
        <p:spPr>
          <a:xfrm>
            <a:off x="5687989" y="558531"/>
            <a:ext cx="21848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chemeClr val="tx1"/>
                </a:solidFill>
                <a:effectLst/>
                <a:latin typeface="system-ui"/>
              </a:rPr>
              <a:t>DIODE </a:t>
            </a:r>
            <a:r>
              <a:rPr lang="zh-CN" altLang="en-US" b="1" i="0" dirty="0">
                <a:solidFill>
                  <a:schemeClr val="tx1"/>
                </a:solidFill>
                <a:effectLst/>
                <a:latin typeface="system-ui"/>
              </a:rPr>
              <a:t>数据集 </a:t>
            </a:r>
            <a:r>
              <a:rPr lang="en-US" altLang="zh-CN" b="1" i="0" dirty="0">
                <a:solidFill>
                  <a:schemeClr val="tx1"/>
                </a:solidFill>
                <a:effectLst/>
                <a:latin typeface="system-ui"/>
              </a:rPr>
              <a:t>(</a:t>
            </a:r>
            <a:r>
              <a:rPr lang="zh-CN" altLang="en-US" b="1" i="0" dirty="0">
                <a:solidFill>
                  <a:schemeClr val="tx1"/>
                </a:solidFill>
                <a:effectLst/>
                <a:latin typeface="system-ui"/>
              </a:rPr>
              <a:t>复杂场景</a:t>
            </a:r>
            <a:r>
              <a:rPr lang="en-US" altLang="zh-CN" b="1" i="0" dirty="0">
                <a:solidFill>
                  <a:schemeClr val="tx1"/>
                </a:solidFill>
                <a:effectLst/>
                <a:latin typeface="system-ui"/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AEF4F6F-398F-E296-D262-DABF6CACC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769149"/>
              </p:ext>
            </p:extLst>
          </p:nvPr>
        </p:nvGraphicFramePr>
        <p:xfrm>
          <a:off x="185614" y="910649"/>
          <a:ext cx="4233984" cy="33222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5664">
                  <a:extLst>
                    <a:ext uri="{9D8B030D-6E8A-4147-A177-3AD203B41FA5}">
                      <a16:colId xmlns:a16="http://schemas.microsoft.com/office/drawing/2014/main" val="4207403872"/>
                    </a:ext>
                  </a:extLst>
                </a:gridCol>
                <a:gridCol w="705664">
                  <a:extLst>
                    <a:ext uri="{9D8B030D-6E8A-4147-A177-3AD203B41FA5}">
                      <a16:colId xmlns:a16="http://schemas.microsoft.com/office/drawing/2014/main" val="3694541715"/>
                    </a:ext>
                  </a:extLst>
                </a:gridCol>
                <a:gridCol w="705664">
                  <a:extLst>
                    <a:ext uri="{9D8B030D-6E8A-4147-A177-3AD203B41FA5}">
                      <a16:colId xmlns:a16="http://schemas.microsoft.com/office/drawing/2014/main" val="1070522940"/>
                    </a:ext>
                  </a:extLst>
                </a:gridCol>
                <a:gridCol w="705664">
                  <a:extLst>
                    <a:ext uri="{9D8B030D-6E8A-4147-A177-3AD203B41FA5}">
                      <a16:colId xmlns:a16="http://schemas.microsoft.com/office/drawing/2014/main" val="3323668985"/>
                    </a:ext>
                  </a:extLst>
                </a:gridCol>
                <a:gridCol w="705664">
                  <a:extLst>
                    <a:ext uri="{9D8B030D-6E8A-4147-A177-3AD203B41FA5}">
                      <a16:colId xmlns:a16="http://schemas.microsoft.com/office/drawing/2014/main" val="112138314"/>
                    </a:ext>
                  </a:extLst>
                </a:gridCol>
                <a:gridCol w="705664">
                  <a:extLst>
                    <a:ext uri="{9D8B030D-6E8A-4147-A177-3AD203B41FA5}">
                      <a16:colId xmlns:a16="http://schemas.microsoft.com/office/drawing/2014/main" val="1134866857"/>
                    </a:ext>
                  </a:extLst>
                </a:gridCol>
              </a:tblGrid>
              <a:tr h="4508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组别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silog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abs_rel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趋势分析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256839"/>
                  </a:ext>
                </a:extLst>
              </a:tr>
              <a:tr h="4508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Baseline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16.256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0.168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0.547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2323555"/>
                  </a:ext>
                </a:extLst>
              </a:tr>
              <a:tr h="8036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Branch Only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16.108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0.171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0.539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effectLst/>
                        </a:rPr>
                        <a:t>不稳定</a:t>
                      </a:r>
                      <a:endParaRPr lang="en-US" altLang="zh-CN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910001"/>
                  </a:ext>
                </a:extLst>
              </a:tr>
              <a:tr h="8036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Loss Only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16.145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0.163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0.543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0.759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effectLst/>
                        </a:rPr>
                        <a:t>误差降低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705375"/>
                  </a:ext>
                </a:extLst>
              </a:tr>
              <a:tr h="6786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Full Model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16.077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0.161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0.537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0.768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全面最优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7641614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F66767D3-1200-D642-6C96-3A9B952BF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969472"/>
              </p:ext>
            </p:extLst>
          </p:nvPr>
        </p:nvGraphicFramePr>
        <p:xfrm>
          <a:off x="4531360" y="910648"/>
          <a:ext cx="4498146" cy="3322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9691">
                  <a:extLst>
                    <a:ext uri="{9D8B030D-6E8A-4147-A177-3AD203B41FA5}">
                      <a16:colId xmlns:a16="http://schemas.microsoft.com/office/drawing/2014/main" val="2656170018"/>
                    </a:ext>
                  </a:extLst>
                </a:gridCol>
                <a:gridCol w="749691">
                  <a:extLst>
                    <a:ext uri="{9D8B030D-6E8A-4147-A177-3AD203B41FA5}">
                      <a16:colId xmlns:a16="http://schemas.microsoft.com/office/drawing/2014/main" val="1648745917"/>
                    </a:ext>
                  </a:extLst>
                </a:gridCol>
                <a:gridCol w="749691">
                  <a:extLst>
                    <a:ext uri="{9D8B030D-6E8A-4147-A177-3AD203B41FA5}">
                      <a16:colId xmlns:a16="http://schemas.microsoft.com/office/drawing/2014/main" val="465602009"/>
                    </a:ext>
                  </a:extLst>
                </a:gridCol>
                <a:gridCol w="749691">
                  <a:extLst>
                    <a:ext uri="{9D8B030D-6E8A-4147-A177-3AD203B41FA5}">
                      <a16:colId xmlns:a16="http://schemas.microsoft.com/office/drawing/2014/main" val="3432780988"/>
                    </a:ext>
                  </a:extLst>
                </a:gridCol>
                <a:gridCol w="749691">
                  <a:extLst>
                    <a:ext uri="{9D8B030D-6E8A-4147-A177-3AD203B41FA5}">
                      <a16:colId xmlns:a16="http://schemas.microsoft.com/office/drawing/2014/main" val="459349949"/>
                    </a:ext>
                  </a:extLst>
                </a:gridCol>
                <a:gridCol w="749691">
                  <a:extLst>
                    <a:ext uri="{9D8B030D-6E8A-4147-A177-3AD203B41FA5}">
                      <a16:colId xmlns:a16="http://schemas.microsoft.com/office/drawing/2014/main" val="2994306830"/>
                    </a:ext>
                  </a:extLst>
                </a:gridCol>
              </a:tblGrid>
              <a:tr h="6644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组别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silog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abs_rel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effectLst/>
                        </a:rPr>
                        <a:t>趋势分析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5699931"/>
                  </a:ext>
                </a:extLst>
              </a:tr>
              <a:tr h="6644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Baseline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32.348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0.542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1.773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0.411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708129"/>
                  </a:ext>
                </a:extLst>
              </a:tr>
              <a:tr h="6644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Branch Only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47.239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0.604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1.980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0.389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严重退化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2556675"/>
                  </a:ext>
                </a:extLst>
              </a:tr>
              <a:tr h="6644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Loss Only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32.651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0.540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1.754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effectLst/>
                        </a:rPr>
                        <a:t>0.431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dirty="0">
                          <a:effectLst/>
                        </a:rPr>
                        <a:t>性能稳定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164412"/>
                  </a:ext>
                </a:extLst>
              </a:tr>
              <a:tr h="6644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Full Model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32.192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0.516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1.741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>
                          <a:effectLst/>
                        </a:rPr>
                        <a:t>0.433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全面最优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7392640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A14040AB-C28E-9AB6-4E48-17EDAF135F3B}"/>
              </a:ext>
            </a:extLst>
          </p:cNvPr>
          <p:cNvSpPr txBox="1"/>
          <p:nvPr/>
        </p:nvSpPr>
        <p:spPr>
          <a:xfrm>
            <a:off x="1117600" y="4277188"/>
            <a:ext cx="6908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chemeClr val="tx1"/>
                </a:solidFill>
                <a:effectLst/>
                <a:latin typeface="system-ui"/>
              </a:rPr>
              <a:t>💡 核心结论：</a:t>
            </a:r>
            <a:endParaRPr lang="zh-CN" altLang="en-US" b="0" i="0" dirty="0">
              <a:solidFill>
                <a:schemeClr val="tx1"/>
              </a:solidFill>
              <a:effectLst/>
              <a:latin typeface="system-ui"/>
            </a:endParaRPr>
          </a:p>
          <a:p>
            <a:pPr algn="l">
              <a:buFont typeface="+mj-lt"/>
              <a:buAutoNum type="arabicPeriod"/>
            </a:pPr>
            <a:r>
              <a:rPr lang="zh-CN" altLang="en-US" sz="1100" b="1" i="0" dirty="0">
                <a:solidFill>
                  <a:schemeClr val="tx1"/>
                </a:solidFill>
                <a:effectLst/>
                <a:latin typeface="system-ui"/>
              </a:rPr>
              <a:t>监督是核心驱动</a:t>
            </a:r>
            <a:r>
              <a:rPr lang="zh-CN" altLang="en-US" sz="1100" b="0" i="0" dirty="0">
                <a:solidFill>
                  <a:schemeClr val="tx1"/>
                </a:solidFill>
                <a:effectLst/>
                <a:latin typeface="system-ui"/>
              </a:rPr>
              <a:t>：</a:t>
            </a:r>
            <a:r>
              <a:rPr lang="en-US" altLang="zh-CN" sz="1100" b="0" i="0" dirty="0">
                <a:solidFill>
                  <a:schemeClr val="tx1"/>
                </a:solidFill>
                <a:effectLst/>
                <a:latin typeface="ui-monospace"/>
              </a:rPr>
              <a:t>Loss Only</a:t>
            </a:r>
            <a:r>
              <a:rPr lang="zh-CN" altLang="en-US" sz="1100" b="0" i="0" dirty="0">
                <a:solidFill>
                  <a:schemeClr val="tx1"/>
                </a:solidFill>
                <a:effectLst/>
                <a:latin typeface="system-ui"/>
              </a:rPr>
              <a:t> 普遍优于</a:t>
            </a:r>
            <a:r>
              <a:rPr lang="en-US" altLang="zh-CN" sz="1100" b="0" i="0" dirty="0">
                <a:solidFill>
                  <a:schemeClr val="tx1"/>
                </a:solidFill>
                <a:effectLst/>
                <a:latin typeface="system-ui"/>
              </a:rPr>
              <a:t>/</a:t>
            </a:r>
            <a:r>
              <a:rPr lang="zh-CN" altLang="en-US" sz="1100" b="0" i="0" dirty="0">
                <a:solidFill>
                  <a:schemeClr val="tx1"/>
                </a:solidFill>
                <a:effectLst/>
                <a:latin typeface="system-ui"/>
              </a:rPr>
              <a:t>接近 </a:t>
            </a:r>
            <a:r>
              <a:rPr lang="en-US" altLang="zh-CN" sz="1100" b="0" i="0" dirty="0">
                <a:solidFill>
                  <a:schemeClr val="tx1"/>
                </a:solidFill>
                <a:effectLst/>
                <a:latin typeface="ui-monospace"/>
              </a:rPr>
              <a:t>Baseline</a:t>
            </a:r>
            <a:r>
              <a:rPr lang="zh-CN" altLang="en-US" sz="1100" b="0" i="0" dirty="0">
                <a:solidFill>
                  <a:schemeClr val="tx1"/>
                </a:solidFill>
                <a:effectLst/>
                <a:latin typeface="system-ui"/>
              </a:rPr>
              <a:t>，证明明确的边界监督信号是性能提升的基础。</a:t>
            </a:r>
          </a:p>
          <a:p>
            <a:pPr algn="l">
              <a:buFont typeface="+mj-lt"/>
              <a:buAutoNum type="arabicPeriod"/>
            </a:pPr>
            <a:r>
              <a:rPr lang="zh-CN" altLang="en-US" sz="1100" b="1" i="0" dirty="0">
                <a:solidFill>
                  <a:schemeClr val="tx1"/>
                </a:solidFill>
                <a:effectLst/>
                <a:latin typeface="system-ui"/>
              </a:rPr>
              <a:t>结构需要引导</a:t>
            </a:r>
            <a:r>
              <a:rPr lang="zh-CN" altLang="en-US" sz="1100" b="0" i="0" dirty="0">
                <a:solidFill>
                  <a:schemeClr val="tx1"/>
                </a:solidFill>
                <a:effectLst/>
                <a:latin typeface="system-ui"/>
              </a:rPr>
              <a:t>：</a:t>
            </a:r>
            <a:r>
              <a:rPr lang="en-US" altLang="zh-CN" sz="1100" b="0" i="0" dirty="0">
                <a:solidFill>
                  <a:schemeClr val="tx1"/>
                </a:solidFill>
                <a:effectLst/>
                <a:latin typeface="ui-monospace"/>
              </a:rPr>
              <a:t>Branch Only</a:t>
            </a:r>
            <a:r>
              <a:rPr lang="zh-CN" altLang="en-US" sz="1100" b="0" i="0" dirty="0">
                <a:solidFill>
                  <a:schemeClr val="tx1"/>
                </a:solidFill>
                <a:effectLst/>
                <a:latin typeface="system-ui"/>
              </a:rPr>
              <a:t> 在复杂场景 </a:t>
            </a:r>
            <a:r>
              <a:rPr lang="en-US" altLang="zh-CN" sz="1100" b="0" i="0" dirty="0">
                <a:solidFill>
                  <a:schemeClr val="tx1"/>
                </a:solidFill>
                <a:effectLst/>
                <a:latin typeface="system-ui"/>
              </a:rPr>
              <a:t>(DIODE) </a:t>
            </a:r>
            <a:r>
              <a:rPr lang="zh-CN" altLang="en-US" sz="1100" b="0" i="0" dirty="0">
                <a:solidFill>
                  <a:schemeClr val="tx1"/>
                </a:solidFill>
                <a:effectLst/>
                <a:latin typeface="system-ui"/>
              </a:rPr>
              <a:t>中严重退化，证明无监督的盲目边缘提取会引入噪声。</a:t>
            </a:r>
          </a:p>
          <a:p>
            <a:pPr algn="l">
              <a:buFont typeface="+mj-lt"/>
              <a:buAutoNum type="arabicPeriod"/>
            </a:pPr>
            <a:r>
              <a:rPr lang="zh-CN" altLang="en-US" sz="1100" b="1" i="0" dirty="0">
                <a:solidFill>
                  <a:schemeClr val="tx1"/>
                </a:solidFill>
                <a:effectLst/>
                <a:latin typeface="system-ui"/>
              </a:rPr>
              <a:t>协同效应</a:t>
            </a:r>
            <a:r>
              <a:rPr lang="zh-CN" altLang="en-US" sz="1100" b="0" i="0" dirty="0">
                <a:solidFill>
                  <a:schemeClr val="tx1"/>
                </a:solidFill>
                <a:effectLst/>
                <a:latin typeface="system-ui"/>
              </a:rPr>
              <a:t>：只有 </a:t>
            </a:r>
            <a:r>
              <a:rPr lang="en-US" altLang="zh-CN" sz="1100" b="0" i="0" dirty="0">
                <a:solidFill>
                  <a:schemeClr val="tx1"/>
                </a:solidFill>
                <a:effectLst/>
                <a:latin typeface="ui-monospace"/>
              </a:rPr>
              <a:t>Full Model</a:t>
            </a:r>
            <a:r>
              <a:rPr lang="zh-CN" altLang="en-US" sz="1100" b="0" i="0" dirty="0">
                <a:solidFill>
                  <a:schemeClr val="tx1"/>
                </a:solidFill>
                <a:effectLst/>
                <a:latin typeface="system-ui"/>
              </a:rPr>
              <a:t> 实现了结构与监督的结合，取得了最优效果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system-ui"/>
              </a:rPr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" y="120989"/>
            <a:ext cx="425704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训练过程可视化与稳定性分析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637252" y="2388729"/>
            <a:ext cx="234696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NYUv2 </a:t>
            </a:r>
            <a:r>
              <a:rPr lang="en-US" sz="1300" b="1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训练与评估曲线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703292" y="4641511"/>
            <a:ext cx="2214880" cy="38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DIODE </a:t>
            </a:r>
            <a:r>
              <a:rPr lang="en-US" sz="1300" b="1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训练与评估曲线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5831840" y="629920"/>
            <a:ext cx="2849880" cy="133096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4472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953760" y="603250"/>
            <a:ext cx="2529840" cy="1384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D9534F"/>
                </a:solidFill>
                <a:latin typeface="微软雅黑"/>
                <a:ea typeface="微软雅黑"/>
                <a:cs typeface="微软雅黑"/>
                <a:sym typeface="微软雅黑"/>
              </a:rPr>
              <a:t>⚡</a:t>
            </a:r>
            <a:r>
              <a:rPr lang="zh-CN" altLang="en-US" sz="1400" b="1" i="0" u="none" strike="noStrike" dirty="0">
                <a:solidFill>
                  <a:srgbClr val="D9534F"/>
                </a:solidFill>
                <a:latin typeface="微软雅黑"/>
                <a:ea typeface="微软雅黑"/>
                <a:cs typeface="微软雅黑"/>
                <a:sym typeface="微软雅黑"/>
              </a:rPr>
              <a:t>训练稳定性</a:t>
            </a:r>
            <a:endParaRPr lang="en-US" altLang="zh-CN" sz="1400" b="1" i="0" u="none" strike="noStrike" dirty="0">
              <a:solidFill>
                <a:srgbClr val="D9534F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indent="0">
              <a:lnSpc>
                <a:spcPct val="100000"/>
              </a:lnSpc>
              <a:defRPr/>
            </a:pPr>
            <a:endParaRPr lang="en-US" sz="1000" b="1" dirty="0">
              <a:solidFill>
                <a:srgbClr val="D9534F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>
              <a:defRPr/>
            </a:pPr>
            <a:r>
              <a:rPr lang="zh-CN" altLang="en-US" sz="1000" b="1" dirty="0"/>
              <a:t>主 </a:t>
            </a:r>
            <a:r>
              <a:rPr lang="en-US" altLang="zh-CN" sz="1000" b="1" dirty="0"/>
              <a:t>Loss </a:t>
            </a:r>
            <a:r>
              <a:rPr lang="zh-CN" altLang="en-US" sz="1000" b="1" dirty="0"/>
              <a:t>趋势一致</a:t>
            </a:r>
            <a:r>
              <a:rPr lang="zh-CN" altLang="en-US" sz="1000" dirty="0"/>
              <a:t>：</a:t>
            </a:r>
            <a:r>
              <a:rPr lang="en-US" altLang="zh-CN" sz="1000" dirty="0"/>
              <a:t>Edge-Guided </a:t>
            </a:r>
            <a:r>
              <a:rPr lang="zh-CN" altLang="en-US" sz="1000" dirty="0"/>
              <a:t>模型的 </a:t>
            </a:r>
            <a:r>
              <a:rPr lang="en-US" altLang="zh-CN" sz="1000" dirty="0" err="1"/>
              <a:t>silog_loss</a:t>
            </a:r>
            <a:r>
              <a:rPr lang="zh-CN" altLang="en-US" sz="1000" dirty="0"/>
              <a:t>（橙色）与 </a:t>
            </a:r>
            <a:r>
              <a:rPr lang="en-US" altLang="zh-CN" sz="1000" dirty="0"/>
              <a:t>Baseline</a:t>
            </a:r>
            <a:r>
              <a:rPr lang="zh-CN" altLang="en-US" sz="1000" dirty="0"/>
              <a:t>（蓝色）在震荡中保持同步下降。</a:t>
            </a:r>
            <a:endParaRPr lang="en-US" altLang="zh-CN" sz="1000" dirty="0"/>
          </a:p>
          <a:p>
            <a:pPr>
              <a:defRPr/>
            </a:pPr>
            <a:r>
              <a:rPr lang="zh-CN" altLang="en-US" sz="1000" b="1" dirty="0"/>
              <a:t>结论</a:t>
            </a:r>
            <a:r>
              <a:rPr lang="zh-CN" altLang="en-US" sz="1000" dirty="0"/>
              <a:t>：引入边缘分支和融合机制</a:t>
            </a:r>
            <a:r>
              <a:rPr lang="zh-CN" altLang="en-US" sz="1000" b="1" dirty="0"/>
              <a:t>没有破坏原有网络的梯度流</a:t>
            </a:r>
            <a:r>
              <a:rPr lang="zh-CN" altLang="en-US" sz="1000" dirty="0"/>
              <a:t>，训练过程稳定可控。</a:t>
            </a:r>
            <a:endParaRPr lang="en-US" sz="1000" b="0" i="0" u="none" strike="noStrike" dirty="0">
              <a:solidFill>
                <a:srgbClr val="50505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841398" y="2166479"/>
            <a:ext cx="2840321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4472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968399" y="2293479"/>
            <a:ext cx="2540000" cy="952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F0AD4E"/>
                </a:solidFill>
                <a:latin typeface="微软雅黑"/>
                <a:ea typeface="微软雅黑"/>
                <a:cs typeface="微软雅黑"/>
                <a:sym typeface="微软雅黑"/>
              </a:rPr>
              <a:t>📈 </a:t>
            </a:r>
            <a:r>
              <a:rPr lang="zh-CN" altLang="en-US" sz="1400" b="1" i="0" u="none" strike="noStrike" dirty="0">
                <a:solidFill>
                  <a:srgbClr val="F0AD4E"/>
                </a:solidFill>
                <a:latin typeface="微软雅黑"/>
                <a:ea typeface="微软雅黑"/>
                <a:cs typeface="微软雅黑"/>
                <a:sym typeface="微软雅黑"/>
              </a:rPr>
              <a:t>边缘监督有效性</a:t>
            </a:r>
            <a:endParaRPr lang="en-US" altLang="zh-CN" sz="1400" b="1" i="0" u="none" strike="noStrike" dirty="0">
              <a:solidFill>
                <a:srgbClr val="F0AD4E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>
              <a:defRPr/>
            </a:pPr>
            <a:endParaRPr lang="en-US" altLang="zh-CN" sz="1000" b="1" dirty="0"/>
          </a:p>
          <a:p>
            <a:pPr>
              <a:defRPr/>
            </a:pPr>
            <a:r>
              <a:rPr lang="en-US" altLang="zh-CN" sz="1000" b="1" dirty="0"/>
              <a:t>Edge Loss </a:t>
            </a:r>
            <a:r>
              <a:rPr lang="zh-CN" altLang="en-US" sz="1000" b="1" dirty="0"/>
              <a:t>收敛</a:t>
            </a:r>
            <a:r>
              <a:rPr lang="zh-CN" altLang="en-US" sz="1000" dirty="0"/>
              <a:t>：</a:t>
            </a:r>
            <a:r>
              <a:rPr lang="en-US" altLang="zh-CN" sz="1000" dirty="0" err="1"/>
              <a:t>edge_loss</a:t>
            </a:r>
            <a:r>
              <a:rPr lang="zh-CN" altLang="en-US" sz="1000" dirty="0"/>
              <a:t>（绿色虚线）在训练初期快速下降并趋于稳定。 </a:t>
            </a:r>
            <a:endParaRPr lang="en-US" altLang="zh-CN" sz="1000" dirty="0"/>
          </a:p>
          <a:p>
            <a:pPr>
              <a:defRPr/>
            </a:pPr>
            <a:r>
              <a:rPr lang="zh-CN" altLang="en-US" sz="1000" b="1" dirty="0"/>
              <a:t>结论</a:t>
            </a:r>
            <a:r>
              <a:rPr lang="zh-CN" altLang="en-US" sz="1000" dirty="0"/>
              <a:t>：证明模型成功接收到了边缘监督信号，并在不断优化对边界区域的预测。</a:t>
            </a:r>
            <a:endParaRPr lang="en-US" sz="1000" b="0" i="0" u="none" strike="noStrike" dirty="0">
              <a:solidFill>
                <a:srgbClr val="50505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841398" y="3578578"/>
            <a:ext cx="284032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4472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968399" y="3705578"/>
            <a:ext cx="2540000" cy="952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5CB85C"/>
                </a:solidFill>
                <a:latin typeface="微软雅黑"/>
                <a:ea typeface="微软雅黑"/>
                <a:cs typeface="微软雅黑"/>
                <a:sym typeface="微软雅黑"/>
              </a:rPr>
              <a:t>🛡️ </a:t>
            </a:r>
            <a:r>
              <a:rPr lang="zh-CN" altLang="en-US" sz="1400" b="1" i="0" u="none" strike="noStrike" dirty="0">
                <a:solidFill>
                  <a:srgbClr val="5CB85C"/>
                </a:solidFill>
                <a:latin typeface="微软雅黑"/>
                <a:ea typeface="微软雅黑"/>
                <a:cs typeface="微软雅黑"/>
                <a:sym typeface="微软雅黑"/>
              </a:rPr>
              <a:t>验证集表现</a:t>
            </a:r>
            <a:endParaRPr lang="en-US" altLang="zh-CN" sz="1400" b="1" i="0" u="none" strike="noStrike" dirty="0">
              <a:solidFill>
                <a:srgbClr val="5CB85C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>
              <a:defRPr/>
            </a:pPr>
            <a:endParaRPr lang="en-US" altLang="zh-CN" sz="1000" b="1" dirty="0"/>
          </a:p>
          <a:p>
            <a:pPr>
              <a:defRPr/>
            </a:pPr>
            <a:r>
              <a:rPr lang="zh-CN" altLang="en-US" sz="1000" b="1" dirty="0"/>
              <a:t>指标稳步优化</a:t>
            </a:r>
            <a:r>
              <a:rPr lang="zh-CN" altLang="en-US" sz="1000" dirty="0"/>
              <a:t>：</a:t>
            </a:r>
            <a:r>
              <a:rPr lang="en-US" altLang="zh-CN" sz="1000" dirty="0"/>
              <a:t>Online Eval </a:t>
            </a:r>
            <a:r>
              <a:rPr lang="zh-CN" altLang="en-US" sz="1000" dirty="0"/>
              <a:t>曲线（右侧两张图）显示验证集指标随训练步数逐步改善。 </a:t>
            </a:r>
            <a:endParaRPr lang="en-US" altLang="zh-CN" sz="1000" dirty="0"/>
          </a:p>
          <a:p>
            <a:pPr>
              <a:defRPr/>
            </a:pPr>
            <a:r>
              <a:rPr lang="zh-CN" altLang="en-US" sz="1000" b="1" dirty="0"/>
              <a:t>结论</a:t>
            </a:r>
            <a:r>
              <a:rPr lang="zh-CN" altLang="en-US" sz="1000" dirty="0"/>
              <a:t>：模型在训练集和验证集上表现一致，具有良好的泛化能力，未出现严重过拟合。</a:t>
            </a:r>
            <a:r>
              <a:rPr lang="en-US" sz="1100" b="0" i="0" u="none" strike="noStrike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67DC6AB-C80A-81D7-C16D-4F7D821EB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516947"/>
            <a:ext cx="5570667" cy="196231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7D63D93-50E1-06D4-75E7-6232A7184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081" y="2739107"/>
            <a:ext cx="5601147" cy="19802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27600" y="2679700"/>
            <a:ext cx="3550920" cy="45974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1" i="0" u="none" strike="noStrike" dirty="0">
                <a:solidFill>
                  <a:srgbClr val="D9D9D9">
                    <a:alpha val="50196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rPr>
              <a:t>Summary and Future Outlook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1727200" y="762000"/>
            <a:ext cx="2146300" cy="2298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r">
              <a:lnSpc>
                <a:spcPct val="116666"/>
              </a:lnSpc>
              <a:defRPr/>
            </a:pPr>
            <a:r>
              <a:rPr lang="en-US" sz="10900" b="0" i="0" u="none" strike="noStrike" dirty="0">
                <a:solidFill>
                  <a:srgbClr val="B0C1D8"/>
                </a:solidFill>
                <a:latin typeface="微软雅黑"/>
                <a:ea typeface="微软雅黑"/>
                <a:cs typeface="微软雅黑"/>
                <a:sym typeface="微软雅黑"/>
              </a:rPr>
              <a:t>06</a:t>
            </a:r>
            <a:endParaRPr lang="en-US" sz="1100" dirty="0"/>
          </a:p>
        </p:txBody>
      </p:sp>
      <p:sp>
        <p:nvSpPr>
          <p:cNvPr id="4" name="Freeform 4"/>
          <p:cNvSpPr/>
          <p:nvPr/>
        </p:nvSpPr>
        <p:spPr>
          <a:xfrm>
            <a:off x="0" y="2560828"/>
            <a:ext cx="3708646" cy="118872"/>
          </a:xfrm>
          <a:custGeom>
            <a:avLst/>
            <a:gdLst/>
            <a:ahLst/>
            <a:cxnLst/>
            <a:rect l="l" t="t" r="r" b="b"/>
            <a:pathLst>
              <a:path w="3708646" h="118872">
                <a:moveTo>
                  <a:pt x="0" y="0"/>
                </a:moveTo>
                <a:lnTo>
                  <a:pt x="3708646" y="0"/>
                </a:lnTo>
                <a:lnTo>
                  <a:pt x="3708646" y="118872"/>
                </a:lnTo>
                <a:lnTo>
                  <a:pt x="0" y="118872"/>
                </a:lnTo>
                <a:close/>
              </a:path>
            </a:pathLst>
          </a:custGeom>
          <a:solidFill>
            <a:srgbClr val="4347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873500" y="1676400"/>
            <a:ext cx="1054100" cy="482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PART</a:t>
            </a:r>
            <a:endParaRPr lang="en-US" sz="1800" dirty="0"/>
          </a:p>
        </p:txBody>
      </p:sp>
      <p:sp>
        <p:nvSpPr>
          <p:cNvPr id="6" name="AutoShape 6"/>
          <p:cNvSpPr/>
          <p:nvPr/>
        </p:nvSpPr>
        <p:spPr>
          <a:xfrm>
            <a:off x="4724400" y="1676400"/>
            <a:ext cx="1054100" cy="4826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1" i="0" u="none" strike="noStrike" dirty="0">
                <a:solidFill>
                  <a:srgbClr val="B0C1D8"/>
                </a:solidFill>
                <a:latin typeface="微软雅黑"/>
                <a:ea typeface="微软雅黑"/>
                <a:cs typeface="微软雅黑"/>
                <a:sym typeface="微软雅黑"/>
              </a:rPr>
              <a:t>SIX</a:t>
            </a:r>
            <a:endParaRPr lang="en-US" sz="1800" dirty="0"/>
          </a:p>
        </p:txBody>
      </p:sp>
      <p:sp>
        <p:nvSpPr>
          <p:cNvPr id="7" name="AutoShape 7"/>
          <p:cNvSpPr/>
          <p:nvPr/>
        </p:nvSpPr>
        <p:spPr>
          <a:xfrm>
            <a:off x="3810000" y="2192020"/>
            <a:ext cx="4668520" cy="54356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8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总结与未来展望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0680" y="1092200"/>
            <a:ext cx="2368622" cy="3627223"/>
          </a:xfrm>
          <a:custGeom>
            <a:avLst/>
            <a:gdLst/>
            <a:ahLst/>
            <a:cxnLst/>
            <a:rect l="l" t="t" r="r" b="b"/>
            <a:pathLst>
              <a:path w="2368622" h="3627223">
                <a:moveTo>
                  <a:pt x="0" y="0"/>
                </a:moveTo>
                <a:lnTo>
                  <a:pt x="2368622" y="0"/>
                </a:lnTo>
                <a:lnTo>
                  <a:pt x="2368622" y="3627223"/>
                </a:lnTo>
                <a:lnTo>
                  <a:pt x="0" y="3627223"/>
                </a:lnTo>
                <a:close/>
              </a:path>
            </a:pathLst>
          </a:custGeom>
          <a:solidFill>
            <a:srgbClr val="B0C1D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27000" dir="8100000" algn="bl" rotWithShape="0">
              <a:srgbClr val="52525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3256280" y="1092200"/>
            <a:ext cx="2454979" cy="3627223"/>
          </a:xfrm>
          <a:custGeom>
            <a:avLst/>
            <a:gdLst/>
            <a:ahLst/>
            <a:cxnLst/>
            <a:rect l="l" t="t" r="r" b="b"/>
            <a:pathLst>
              <a:path w="2454979" h="3627223">
                <a:moveTo>
                  <a:pt x="0" y="0"/>
                </a:moveTo>
                <a:lnTo>
                  <a:pt x="2454979" y="0"/>
                </a:lnTo>
                <a:lnTo>
                  <a:pt x="2454979" y="3627223"/>
                </a:lnTo>
                <a:lnTo>
                  <a:pt x="0" y="362722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27000" dir="8100000" algn="bl" rotWithShape="0">
              <a:srgbClr val="525252">
                <a:alpha val="6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6240780" y="1092200"/>
            <a:ext cx="2454977" cy="3627223"/>
          </a:xfrm>
          <a:custGeom>
            <a:avLst/>
            <a:gdLst/>
            <a:ahLst/>
            <a:cxnLst/>
            <a:rect l="l" t="t" r="r" b="b"/>
            <a:pathLst>
              <a:path w="2454977" h="3627223">
                <a:moveTo>
                  <a:pt x="0" y="0"/>
                </a:moveTo>
                <a:lnTo>
                  <a:pt x="2454977" y="0"/>
                </a:lnTo>
                <a:lnTo>
                  <a:pt x="2454977" y="3627223"/>
                </a:lnTo>
                <a:lnTo>
                  <a:pt x="0" y="3627223"/>
                </a:lnTo>
                <a:close/>
              </a:path>
            </a:pathLst>
          </a:custGeom>
          <a:solidFill>
            <a:srgbClr val="4347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27000" dir="8100000" algn="bl" rotWithShape="0">
              <a:srgbClr val="525252">
                <a:alpha val="7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74980" y="1562100"/>
            <a:ext cx="2197100" cy="307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r>
              <a:rPr lang="zh-CN" altLang="en-US" sz="1500" b="1" dirty="0"/>
              <a:t>结构创新：</a:t>
            </a:r>
            <a:r>
              <a:rPr lang="en-US" altLang="zh-CN" sz="1500" b="1" dirty="0"/>
              <a:t>Edge-Guided BTS</a:t>
            </a:r>
            <a:endParaRPr lang="zh-CN" altLang="en-US" sz="1500" dirty="0"/>
          </a:p>
          <a:p>
            <a:endParaRPr lang="en-US" altLang="zh-CN" sz="1200" b="1" dirty="0"/>
          </a:p>
          <a:p>
            <a:r>
              <a:rPr lang="zh-CN" altLang="en-US" sz="1200" b="1" dirty="0"/>
              <a:t>非侵入式改进</a:t>
            </a:r>
            <a:r>
              <a:rPr lang="zh-CN" altLang="en-US" sz="1200" dirty="0"/>
              <a:t>：完整保留 </a:t>
            </a:r>
            <a:r>
              <a:rPr lang="en-US" altLang="zh-CN" sz="1200" dirty="0"/>
              <a:t>BTS </a:t>
            </a:r>
            <a:r>
              <a:rPr lang="zh-CN" altLang="en-US" sz="1200" dirty="0"/>
              <a:t>局部平面指导机制，仅在解码末端引入</a:t>
            </a:r>
            <a:r>
              <a:rPr lang="zh-CN" altLang="en-US" sz="1200" b="1" dirty="0"/>
              <a:t>轻量边缘分支</a:t>
            </a:r>
            <a:r>
              <a:rPr lang="zh-CN" altLang="en-US" sz="1200" dirty="0"/>
              <a:t>。</a:t>
            </a:r>
          </a:p>
          <a:p>
            <a:endParaRPr lang="en-US" altLang="zh-CN" sz="1200" b="1" dirty="0"/>
          </a:p>
          <a:p>
            <a:r>
              <a:rPr lang="zh-CN" altLang="en-US" sz="1200" b="1" dirty="0"/>
              <a:t>协同机制</a:t>
            </a:r>
            <a:r>
              <a:rPr lang="zh-CN" altLang="en-US" sz="1200" dirty="0"/>
              <a:t>：设置</a:t>
            </a:r>
            <a:r>
              <a:rPr lang="zh-CN" altLang="en-US" sz="1200" b="1" dirty="0"/>
              <a:t>乘性边缘引导融合</a:t>
            </a:r>
            <a:r>
              <a:rPr lang="zh-CN" altLang="en-US" sz="1200" dirty="0"/>
              <a:t>与</a:t>
            </a:r>
            <a:r>
              <a:rPr lang="zh-CN" altLang="en-US" sz="1200" b="1" dirty="0"/>
              <a:t>深度边缘监督损失</a:t>
            </a:r>
            <a:r>
              <a:rPr lang="zh-CN" altLang="en-US" sz="1200" dirty="0"/>
              <a:t>，解决边界过平滑问题。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40080" y="1168400"/>
            <a:ext cx="18161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dirty="0">
                <a:latin typeface="微软雅黑"/>
                <a:ea typeface="微软雅黑"/>
                <a:sym typeface="微软雅黑"/>
              </a:rPr>
              <a:t>核心贡献</a:t>
            </a:r>
            <a:endParaRPr lang="en-US" sz="1800" dirty="0"/>
          </a:p>
        </p:txBody>
      </p:sp>
      <p:sp>
        <p:nvSpPr>
          <p:cNvPr id="7" name="AutoShape 7"/>
          <p:cNvSpPr/>
          <p:nvPr/>
        </p:nvSpPr>
        <p:spPr>
          <a:xfrm>
            <a:off x="3408680" y="1638300"/>
            <a:ext cx="2298700" cy="298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r>
              <a:rPr lang="zh-CN" altLang="en-US" sz="1500" b="1" dirty="0"/>
              <a:t>性能突破：全面超越 </a:t>
            </a:r>
            <a:r>
              <a:rPr lang="en-US" altLang="zh-CN" sz="1500" b="1" dirty="0"/>
              <a:t>Baseline</a:t>
            </a:r>
            <a:endParaRPr lang="en-US" altLang="zh-CN" sz="1500" dirty="0"/>
          </a:p>
          <a:p>
            <a:endParaRPr lang="en-US" altLang="zh-CN" sz="1200" b="1" dirty="0"/>
          </a:p>
          <a:p>
            <a:r>
              <a:rPr lang="en-US" altLang="zh-CN" sz="1200" b="1" dirty="0"/>
              <a:t>NYUv2 (</a:t>
            </a:r>
            <a:r>
              <a:rPr lang="zh-CN" altLang="en-US" sz="1200" b="1" dirty="0"/>
              <a:t>室内</a:t>
            </a:r>
            <a:r>
              <a:rPr lang="en-US" altLang="zh-CN" sz="1200" b="1" dirty="0"/>
              <a:t>)</a:t>
            </a:r>
            <a:r>
              <a:rPr lang="zh-CN" altLang="en-US" sz="1200" dirty="0"/>
              <a:t>：</a:t>
            </a:r>
            <a:r>
              <a:rPr lang="en-US" altLang="zh-CN" sz="1200" dirty="0" err="1"/>
              <a:t>AbsRel</a:t>
            </a:r>
            <a:r>
              <a:rPr lang="en-US" altLang="zh-CN" sz="1200" dirty="0"/>
              <a:t> </a:t>
            </a:r>
            <a:r>
              <a:rPr lang="zh-CN" altLang="en-US" sz="1200" dirty="0"/>
              <a:t>降低 </a:t>
            </a:r>
            <a:r>
              <a:rPr lang="en-US" altLang="zh-CN" sz="1200" b="1" dirty="0"/>
              <a:t>1.2%</a:t>
            </a:r>
            <a:r>
              <a:rPr lang="zh-CN" altLang="en-US" sz="1200" dirty="0"/>
              <a:t>，</a:t>
            </a:r>
            <a:r>
              <a:rPr lang="en-US" altLang="zh-CN" sz="1200" dirty="0"/>
              <a:t>RMSE </a:t>
            </a:r>
            <a:r>
              <a:rPr lang="zh-CN" altLang="en-US" sz="1200" dirty="0"/>
              <a:t>降低 </a:t>
            </a:r>
            <a:r>
              <a:rPr lang="en-US" altLang="zh-CN" sz="1200" b="1" dirty="0"/>
              <a:t>1.8%</a:t>
            </a:r>
            <a:r>
              <a:rPr lang="zh-CN" altLang="en-US" sz="1200" dirty="0"/>
              <a:t>。</a:t>
            </a:r>
          </a:p>
          <a:p>
            <a:endParaRPr lang="en-US" altLang="zh-CN" sz="1200" b="1" dirty="0"/>
          </a:p>
          <a:p>
            <a:r>
              <a:rPr lang="en-US" altLang="zh-CN" sz="1200" b="1" dirty="0"/>
              <a:t>DIODE (</a:t>
            </a:r>
            <a:r>
              <a:rPr lang="zh-CN" altLang="en-US" sz="1200" b="1" dirty="0"/>
              <a:t>复杂</a:t>
            </a:r>
            <a:r>
              <a:rPr lang="en-US" altLang="zh-CN" sz="1200" b="1" dirty="0"/>
              <a:t>)</a:t>
            </a:r>
            <a:r>
              <a:rPr lang="zh-CN" altLang="en-US" sz="1200" dirty="0"/>
              <a:t>：</a:t>
            </a:r>
            <a:r>
              <a:rPr lang="en-US" altLang="zh-CN" sz="1200" dirty="0" err="1"/>
              <a:t>AbsRel</a:t>
            </a:r>
            <a:r>
              <a:rPr lang="en-US" altLang="zh-CN" sz="1200" dirty="0"/>
              <a:t> </a:t>
            </a:r>
            <a:r>
              <a:rPr lang="zh-CN" altLang="en-US" sz="1200" dirty="0"/>
              <a:t>降低 </a:t>
            </a:r>
            <a:r>
              <a:rPr lang="en-US" altLang="zh-CN" sz="1200" b="1" dirty="0"/>
              <a:t>4.8%</a:t>
            </a:r>
            <a:r>
              <a:rPr lang="zh-CN" altLang="en-US" sz="1200" dirty="0"/>
              <a:t>，</a:t>
            </a:r>
            <a:r>
              <a:rPr lang="en-US" altLang="zh-CN" sz="1200" dirty="0"/>
              <a:t>d1 </a:t>
            </a:r>
            <a:r>
              <a:rPr lang="zh-CN" altLang="en-US" sz="1200" dirty="0"/>
              <a:t>提升 </a:t>
            </a:r>
            <a:r>
              <a:rPr lang="en-US" altLang="zh-CN" sz="1200" b="1" dirty="0"/>
              <a:t>5.4%</a:t>
            </a:r>
            <a:r>
              <a:rPr lang="zh-CN" altLang="en-US" sz="1200" dirty="0"/>
              <a:t>，证明极强泛化能力。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522980" y="1181100"/>
            <a:ext cx="19177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dirty="0">
                <a:latin typeface="微软雅黑"/>
                <a:ea typeface="微软雅黑"/>
                <a:sym typeface="微软雅黑"/>
              </a:rPr>
              <a:t>实验结论</a:t>
            </a:r>
            <a:endParaRPr lang="en-US" sz="1800" dirty="0"/>
          </a:p>
        </p:txBody>
      </p:sp>
      <p:sp>
        <p:nvSpPr>
          <p:cNvPr id="9" name="AutoShape 9"/>
          <p:cNvSpPr/>
          <p:nvPr/>
        </p:nvSpPr>
        <p:spPr>
          <a:xfrm>
            <a:off x="6367780" y="1587500"/>
            <a:ext cx="2171700" cy="299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r>
              <a:rPr lang="zh-CN" altLang="en-US" sz="1500" b="1" dirty="0">
                <a:solidFill>
                  <a:schemeClr val="bg1"/>
                </a:solidFill>
              </a:rPr>
              <a:t>消融洞察：监督主导，结构协同</a:t>
            </a:r>
          </a:p>
          <a:p>
            <a:endParaRPr lang="en-US" altLang="zh-CN" sz="1200" b="1" dirty="0">
              <a:solidFill>
                <a:schemeClr val="bg1"/>
              </a:solidFill>
            </a:endParaRPr>
          </a:p>
          <a:p>
            <a:r>
              <a:rPr lang="zh-CN" altLang="en-US" sz="1200" b="1" dirty="0">
                <a:solidFill>
                  <a:schemeClr val="bg1"/>
                </a:solidFill>
              </a:rPr>
              <a:t>核心驱动</a:t>
            </a:r>
            <a:r>
              <a:rPr lang="zh-CN" altLang="en-US" sz="1200" dirty="0">
                <a:solidFill>
                  <a:schemeClr val="bg1"/>
                </a:solidFill>
              </a:rPr>
              <a:t>：</a:t>
            </a:r>
            <a:r>
              <a:rPr lang="en-US" altLang="zh-CN" sz="1200" dirty="0">
                <a:solidFill>
                  <a:schemeClr val="bg1"/>
                </a:solidFill>
              </a:rPr>
              <a:t>Edge Loss</a:t>
            </a:r>
            <a:r>
              <a:rPr lang="zh-CN" altLang="en-US" sz="1200" dirty="0">
                <a:solidFill>
                  <a:schemeClr val="bg1"/>
                </a:solidFill>
              </a:rPr>
              <a:t> 是性能提升的</a:t>
            </a:r>
            <a:r>
              <a:rPr lang="zh-CN" altLang="en-US" sz="1200" b="1" dirty="0">
                <a:solidFill>
                  <a:schemeClr val="bg1"/>
                </a:solidFill>
              </a:rPr>
              <a:t>根本来源</a:t>
            </a:r>
            <a:r>
              <a:rPr lang="zh-CN" altLang="en-US" sz="1200" dirty="0">
                <a:solidFill>
                  <a:schemeClr val="bg1"/>
                </a:solidFill>
              </a:rPr>
              <a:t>（稳定收益）。</a:t>
            </a:r>
          </a:p>
          <a:p>
            <a:endParaRPr lang="en-US" altLang="zh-CN" sz="1200" b="1" dirty="0">
              <a:solidFill>
                <a:schemeClr val="bg1"/>
              </a:solidFill>
            </a:endParaRPr>
          </a:p>
          <a:p>
            <a:r>
              <a:rPr lang="zh-CN" altLang="en-US" sz="1200" b="1" dirty="0">
                <a:solidFill>
                  <a:schemeClr val="bg1"/>
                </a:solidFill>
              </a:rPr>
              <a:t>结构价值</a:t>
            </a:r>
            <a:r>
              <a:rPr lang="zh-CN" altLang="en-US" sz="1200" dirty="0">
                <a:solidFill>
                  <a:schemeClr val="bg1"/>
                </a:solidFill>
              </a:rPr>
              <a:t>：</a:t>
            </a:r>
            <a:r>
              <a:rPr lang="en-US" altLang="zh-CN" sz="1200" dirty="0">
                <a:solidFill>
                  <a:schemeClr val="bg1"/>
                </a:solidFill>
              </a:rPr>
              <a:t>Edge Branch</a:t>
            </a:r>
            <a:r>
              <a:rPr lang="zh-CN" altLang="en-US" sz="1200" dirty="0">
                <a:solidFill>
                  <a:schemeClr val="bg1"/>
                </a:solidFill>
              </a:rPr>
              <a:t> 单独使用不稳定，但与 </a:t>
            </a:r>
            <a:r>
              <a:rPr lang="en-US" altLang="zh-CN" sz="1200" dirty="0">
                <a:solidFill>
                  <a:schemeClr val="bg1"/>
                </a:solidFill>
              </a:rPr>
              <a:t>Loss </a:t>
            </a:r>
            <a:r>
              <a:rPr lang="zh-CN" altLang="en-US" sz="1200" dirty="0">
                <a:solidFill>
                  <a:schemeClr val="bg1"/>
                </a:solidFill>
              </a:rPr>
              <a:t>结合后能</a:t>
            </a:r>
            <a:r>
              <a:rPr lang="zh-CN" altLang="en-US" sz="1200" b="1" dirty="0">
                <a:solidFill>
                  <a:schemeClr val="bg1"/>
                </a:solidFill>
              </a:rPr>
              <a:t>放大收益</a:t>
            </a:r>
            <a:r>
              <a:rPr lang="zh-CN" altLang="en-US" sz="1200" dirty="0">
                <a:solidFill>
                  <a:schemeClr val="bg1"/>
                </a:solidFill>
              </a:rPr>
              <a:t>，实现最佳效果。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520180" y="1181100"/>
            <a:ext cx="18669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sym typeface="微软雅黑"/>
              </a:rPr>
              <a:t>机制洞察</a:t>
            </a:r>
            <a:endParaRPr lang="en-US" sz="1800" dirty="0"/>
          </a:p>
        </p:txBody>
      </p:sp>
      <p:sp>
        <p:nvSpPr>
          <p:cNvPr id="11" name="AutoShape 11"/>
          <p:cNvSpPr/>
          <p:nvPr/>
        </p:nvSpPr>
        <p:spPr>
          <a:xfrm>
            <a:off x="88900" y="63500"/>
            <a:ext cx="5412740" cy="5969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7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研究总结：从理论复现到创新突破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313180" y="660400"/>
            <a:ext cx="482600" cy="368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170680" y="660400"/>
            <a:ext cx="431800" cy="368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📊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244080" y="660400"/>
            <a:ext cx="431800" cy="368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🔬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7960" y="127000"/>
            <a:ext cx="4191000" cy="44704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7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局限性分析与未来研究展望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228598" y="899160"/>
            <a:ext cx="3997962" cy="3987800"/>
          </a:xfrm>
          <a:prstGeom prst="roundRect">
            <a:avLst>
              <a:gd name="adj" fmla="val 8535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851402" y="899160"/>
            <a:ext cx="3997962" cy="3987800"/>
          </a:xfrm>
          <a:prstGeom prst="roundRect">
            <a:avLst>
              <a:gd name="adj" fmla="val 6879"/>
            </a:avLst>
          </a:prstGeom>
          <a:solidFill>
            <a:srgbClr val="374151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103F5C-BAC6-E1F8-2DB3-026087677CA9}"/>
              </a:ext>
            </a:extLst>
          </p:cNvPr>
          <p:cNvSpPr txBox="1"/>
          <p:nvPr/>
        </p:nvSpPr>
        <p:spPr>
          <a:xfrm>
            <a:off x="1450338" y="1093252"/>
            <a:ext cx="15544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000" b="1" i="0" dirty="0">
                <a:solidFill>
                  <a:srgbClr val="F7F8FC"/>
                </a:solidFill>
                <a:effectLst/>
                <a:latin typeface="system-ui"/>
              </a:rPr>
              <a:t>当前局限性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EA15D45-CBFB-5CB8-91DD-CFBBFFE92339}"/>
                  </a:ext>
                </a:extLst>
              </p:cNvPr>
              <p:cNvSpPr txBox="1"/>
              <p:nvPr/>
            </p:nvSpPr>
            <p:spPr>
              <a:xfrm>
                <a:off x="351787" y="1687454"/>
                <a:ext cx="3751582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latin typeface="system-ui"/>
                  </a:rPr>
                  <a:t>⚠️ </a:t>
                </a:r>
                <a:r>
                  <a:rPr lang="zh-CN" altLang="en-US" b="1" i="0" dirty="0">
                    <a:solidFill>
                      <a:schemeClr val="bg1"/>
                    </a:solidFill>
                    <a:effectLst/>
                    <a:latin typeface="system-ui"/>
                  </a:rPr>
                  <a:t>局限 </a:t>
                </a:r>
                <a:r>
                  <a:rPr lang="en-US" altLang="zh-CN" b="1" i="0" dirty="0">
                    <a:solidFill>
                      <a:schemeClr val="bg1"/>
                    </a:solidFill>
                    <a:effectLst/>
                    <a:latin typeface="system-ui"/>
                  </a:rPr>
                  <a:t>1</a:t>
                </a:r>
                <a:r>
                  <a:rPr lang="zh-CN" altLang="en-US" b="1" i="0" dirty="0">
                    <a:solidFill>
                      <a:schemeClr val="bg1"/>
                    </a:solidFill>
                    <a:effectLst/>
                    <a:latin typeface="system-ui"/>
                  </a:rPr>
                  <a:t>：超参数敏感性</a:t>
                </a: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system-ui"/>
                  </a:rPr>
                  <a:t> </a:t>
                </a:r>
                <a:endParaRPr lang="en-US" altLang="zh-CN" b="0" i="0" dirty="0">
                  <a:solidFill>
                    <a:schemeClr val="bg1"/>
                  </a:solidFill>
                  <a:effectLst/>
                  <a:latin typeface="system-ui"/>
                </a:endParaRPr>
              </a:p>
              <a:p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system-ui"/>
                  </a:rPr>
                  <a:t>边缘监督权重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system-ui"/>
                  </a:rPr>
                  <a:t>并非固定不变。实验表明，室内场景最佳权重为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system-ui"/>
                  </a:rPr>
                  <a:t>，而复杂场景 </a:t>
                </a:r>
                <a:r>
                  <a:rPr lang="en-US" altLang="zh-CN" b="0" i="0" dirty="0">
                    <a:solidFill>
                      <a:schemeClr val="bg1"/>
                    </a:solidFill>
                    <a:effectLst/>
                    <a:latin typeface="system-ui"/>
                  </a:rPr>
                  <a:t>DIODE </a:t>
                </a: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system-ui"/>
                  </a:rPr>
                  <a:t>在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system-ui"/>
                  </a:rPr>
                  <a:t>时反而退化，最佳权重为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=0.02</m:t>
                    </m:r>
                  </m:oMath>
                </a14:m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system-ui"/>
                  </a:rPr>
                  <a:t>。</a:t>
                </a:r>
                <a:endParaRPr lang="en-US" altLang="zh-CN" b="0" i="0" dirty="0">
                  <a:solidFill>
                    <a:schemeClr val="bg1"/>
                  </a:solidFill>
                  <a:effectLst/>
                  <a:latin typeface="system-ui"/>
                </a:endParaRPr>
              </a:p>
              <a:p>
                <a:r>
                  <a:rPr lang="zh-CN" altLang="en-US" b="1" i="0" dirty="0">
                    <a:solidFill>
                      <a:schemeClr val="bg1"/>
                    </a:solidFill>
                    <a:effectLst/>
                    <a:latin typeface="system-ui"/>
                  </a:rPr>
                  <a:t>模型缺乏对场景复杂度的自适应能力。</a:t>
                </a:r>
                <a:endParaRPr lang="zh-CN" altLang="en-US" b="0" i="0" dirty="0">
                  <a:solidFill>
                    <a:schemeClr val="bg1"/>
                  </a:solidFill>
                  <a:effectLst/>
                  <a:latin typeface="system-ui"/>
                </a:endParaRPr>
              </a:p>
              <a:p>
                <a:pPr algn="l">
                  <a:buNone/>
                </a:pPr>
                <a:endParaRPr lang="en-US" altLang="zh-CN" b="1" i="0" dirty="0">
                  <a:solidFill>
                    <a:schemeClr val="bg1"/>
                  </a:solidFill>
                  <a:effectLst/>
                  <a:latin typeface="system-ui"/>
                </a:endParaRPr>
              </a:p>
              <a:p>
                <a:pPr algn="l">
                  <a:buNone/>
                </a:pPr>
                <a:r>
                  <a:rPr lang="zh-CN" altLang="en-US" b="1" i="0" dirty="0">
                    <a:solidFill>
                      <a:schemeClr val="bg1"/>
                    </a:solidFill>
                    <a:effectLst/>
                    <a:latin typeface="system-ui"/>
                  </a:rPr>
                  <a:t>⚠️ 局限 </a:t>
                </a:r>
                <a:r>
                  <a:rPr lang="en-US" altLang="zh-CN" b="1" i="0" dirty="0">
                    <a:solidFill>
                      <a:schemeClr val="bg1"/>
                    </a:solidFill>
                    <a:effectLst/>
                    <a:latin typeface="system-ui"/>
                  </a:rPr>
                  <a:t>2</a:t>
                </a:r>
                <a:r>
                  <a:rPr lang="zh-CN" altLang="en-US" b="1" i="0" dirty="0">
                    <a:solidFill>
                      <a:schemeClr val="bg1"/>
                    </a:solidFill>
                    <a:effectLst/>
                    <a:latin typeface="system-ui"/>
                  </a:rPr>
                  <a:t>：结构依赖性</a:t>
                </a: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system-ui"/>
                  </a:rPr>
                  <a:t> </a:t>
                </a:r>
                <a:endParaRPr lang="en-US" altLang="zh-CN" b="0" i="0" dirty="0">
                  <a:solidFill>
                    <a:schemeClr val="bg1"/>
                  </a:solidFill>
                  <a:effectLst/>
                  <a:latin typeface="system-ui"/>
                </a:endParaRPr>
              </a:p>
              <a:p>
                <a:pPr algn="l">
                  <a:buNone/>
                </a:pP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system-ui"/>
                  </a:rPr>
                  <a:t>消融实验显示，仅增加结构而不加监督（</a:t>
                </a:r>
                <a:r>
                  <a:rPr lang="en-US" altLang="zh-CN" b="0" i="0" dirty="0">
                    <a:solidFill>
                      <a:schemeClr val="bg1"/>
                    </a:solidFill>
                    <a:effectLst/>
                    <a:latin typeface="system-ui"/>
                  </a:rPr>
                  <a:t>Branch Only</a:t>
                </a: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system-ui"/>
                  </a:rPr>
                  <a:t>）会导致模型性能下降。这说明</a:t>
                </a:r>
                <a:r>
                  <a:rPr lang="zh-CN" altLang="en-US" b="1" i="0" dirty="0">
                    <a:solidFill>
                      <a:schemeClr val="bg1"/>
                    </a:solidFill>
                    <a:effectLst/>
                    <a:latin typeface="system-ui"/>
                  </a:rPr>
                  <a:t>边缘引导模块本身不具备独立有效性</a:t>
                </a:r>
                <a:r>
                  <a:rPr lang="zh-CN" altLang="en-US" b="0" i="0" dirty="0">
                    <a:solidFill>
                      <a:schemeClr val="bg1"/>
                    </a:solidFill>
                    <a:effectLst/>
                    <a:latin typeface="system-ui"/>
                  </a:rPr>
                  <a:t>，必须强依赖显式的监督信号。</a:t>
                </a:r>
              </a:p>
              <a:p>
                <a:pPr>
                  <a:buNone/>
                </a:pPr>
                <a:br>
                  <a:rPr lang="zh-CN" altLang="en-US" dirty="0">
                    <a:solidFill>
                      <a:schemeClr val="bg1"/>
                    </a:solidFill>
                  </a:rPr>
                </a:b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EA15D45-CBFB-5CB8-91DD-CFBBFFE92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87" y="1687454"/>
                <a:ext cx="3751582" cy="3108543"/>
              </a:xfrm>
              <a:prstGeom prst="rect">
                <a:avLst/>
              </a:prstGeom>
              <a:blipFill>
                <a:blip r:embed="rId4"/>
                <a:stretch>
                  <a:fillRect l="-488" t="-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C046ACB8-C06D-97A2-D3EF-C4F5B5E44481}"/>
              </a:ext>
            </a:extLst>
          </p:cNvPr>
          <p:cNvSpPr txBox="1"/>
          <p:nvPr/>
        </p:nvSpPr>
        <p:spPr>
          <a:xfrm>
            <a:off x="5984246" y="1093252"/>
            <a:ext cx="17322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000" b="1" i="0" dirty="0">
                <a:solidFill>
                  <a:srgbClr val="F7F8FC"/>
                </a:solidFill>
                <a:effectLst/>
                <a:latin typeface="system-ui"/>
              </a:rPr>
              <a:t>未来研究展望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4F54500-2EA7-8DD9-387B-2A159D307AB7}"/>
              </a:ext>
            </a:extLst>
          </p:cNvPr>
          <p:cNvSpPr txBox="1"/>
          <p:nvPr/>
        </p:nvSpPr>
        <p:spPr>
          <a:xfrm>
            <a:off x="4917440" y="1493362"/>
            <a:ext cx="3874773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chemeClr val="bg1"/>
                </a:solidFill>
                <a:effectLst/>
                <a:latin typeface="system-ui"/>
              </a:rPr>
              <a:t>🚀 展望 </a:t>
            </a:r>
            <a:r>
              <a:rPr lang="en-US" altLang="zh-CN" b="1" i="0" dirty="0">
                <a:solidFill>
                  <a:schemeClr val="bg1"/>
                </a:solidFill>
                <a:effectLst/>
                <a:latin typeface="system-ui"/>
              </a:rPr>
              <a:t>1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system-ui"/>
              </a:rPr>
              <a:t>：自适应边缘引导机制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system-ui"/>
              </a:rPr>
              <a:t> </a:t>
            </a:r>
            <a:endParaRPr lang="en-US" altLang="zh-CN" b="0" i="0" dirty="0">
              <a:solidFill>
                <a:schemeClr val="bg1"/>
              </a:solidFill>
              <a:effectLst/>
              <a:latin typeface="system-ui"/>
            </a:endParaRPr>
          </a:p>
          <a:p>
            <a:pPr algn="l">
              <a:buNone/>
            </a:pPr>
            <a:r>
              <a:rPr lang="zh-CN" altLang="en-US" b="1" i="0" dirty="0">
                <a:solidFill>
                  <a:schemeClr val="bg1"/>
                </a:solidFill>
                <a:effectLst/>
                <a:latin typeface="system-ui"/>
              </a:rPr>
              <a:t>方案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system-ui"/>
              </a:rPr>
              <a:t>：设计动态权重策略，根据场景的几何复杂度自动调节边缘损失强度，摆脱手动调参。</a:t>
            </a:r>
          </a:p>
          <a:p>
            <a:pPr algn="l">
              <a:buNone/>
            </a:pPr>
            <a:endParaRPr lang="en-US" altLang="zh-CN" b="1" i="0" dirty="0">
              <a:solidFill>
                <a:schemeClr val="bg1"/>
              </a:solidFill>
              <a:effectLst/>
              <a:latin typeface="system-ui"/>
            </a:endParaRPr>
          </a:p>
          <a:p>
            <a:pPr algn="l">
              <a:buNone/>
            </a:pPr>
            <a:r>
              <a:rPr lang="zh-CN" altLang="en-US" b="1" i="0" dirty="0">
                <a:solidFill>
                  <a:schemeClr val="bg1"/>
                </a:solidFill>
                <a:effectLst/>
                <a:latin typeface="system-ui"/>
              </a:rPr>
              <a:t>🌍 展望 </a:t>
            </a:r>
            <a:r>
              <a:rPr lang="en-US" altLang="zh-CN" b="1" i="0" dirty="0">
                <a:solidFill>
                  <a:schemeClr val="bg1"/>
                </a:solidFill>
                <a:effectLst/>
                <a:latin typeface="system-ui"/>
              </a:rPr>
              <a:t>2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system-ui"/>
              </a:rPr>
              <a:t>：跨场景零样本泛化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system-ui"/>
              </a:rPr>
              <a:t> </a:t>
            </a:r>
            <a:endParaRPr lang="en-US" altLang="zh-CN" b="0" i="0" dirty="0">
              <a:solidFill>
                <a:schemeClr val="bg1"/>
              </a:solidFill>
              <a:effectLst/>
              <a:latin typeface="system-ui"/>
            </a:endParaRPr>
          </a:p>
          <a:p>
            <a:pPr algn="l">
              <a:buNone/>
            </a:pPr>
            <a:r>
              <a:rPr lang="zh-CN" altLang="en-US" b="1" i="0" dirty="0">
                <a:solidFill>
                  <a:schemeClr val="bg1"/>
                </a:solidFill>
                <a:effectLst/>
                <a:latin typeface="system-ui"/>
              </a:rPr>
              <a:t>方案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system-ui"/>
              </a:rPr>
              <a:t>：结合预训练的深度基础模型（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system-ui"/>
              </a:rPr>
              <a:t>Foundation Models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system-ui"/>
              </a:rPr>
              <a:t>），探索跨域（室内→室外）的零样本迁移能力。</a:t>
            </a:r>
          </a:p>
          <a:p>
            <a:pPr algn="l">
              <a:buNone/>
            </a:pPr>
            <a:endParaRPr lang="en-US" altLang="zh-CN" b="1" i="0" dirty="0">
              <a:solidFill>
                <a:schemeClr val="bg1"/>
              </a:solidFill>
              <a:effectLst/>
              <a:latin typeface="system-ui"/>
            </a:endParaRPr>
          </a:p>
          <a:p>
            <a:pPr algn="l">
              <a:buNone/>
            </a:pPr>
            <a:r>
              <a:rPr lang="zh-CN" altLang="en-US" b="1" i="0" dirty="0">
                <a:solidFill>
                  <a:schemeClr val="bg1"/>
                </a:solidFill>
                <a:effectLst/>
                <a:latin typeface="system-ui"/>
              </a:rPr>
              <a:t>📱 展望 </a:t>
            </a:r>
            <a:r>
              <a:rPr lang="en-US" altLang="zh-CN" b="1" i="0" dirty="0">
                <a:solidFill>
                  <a:schemeClr val="bg1"/>
                </a:solidFill>
                <a:effectLst/>
                <a:latin typeface="system-ui"/>
              </a:rPr>
              <a:t>3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system-ui"/>
              </a:rPr>
              <a:t>：端侧实时部署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system-ui"/>
              </a:rPr>
              <a:t> </a:t>
            </a:r>
            <a:endParaRPr lang="en-US" altLang="zh-CN" b="0" i="0" dirty="0">
              <a:solidFill>
                <a:schemeClr val="bg1"/>
              </a:solidFill>
              <a:effectLst/>
              <a:latin typeface="system-ui"/>
            </a:endParaRPr>
          </a:p>
          <a:p>
            <a:pPr algn="l">
              <a:buNone/>
            </a:pPr>
            <a:r>
              <a:rPr lang="zh-CN" altLang="en-US" b="1" i="0" dirty="0">
                <a:solidFill>
                  <a:schemeClr val="bg1"/>
                </a:solidFill>
                <a:effectLst/>
                <a:latin typeface="system-ui"/>
              </a:rPr>
              <a:t>方案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system-ui"/>
              </a:rPr>
              <a:t>：通过模型剪枝与量化技术压缩边缘分支的参数量，使其能部署于嵌入式机器人设备，满足实时导航需求。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32300" y="3136900"/>
            <a:ext cx="2316659" cy="354794"/>
          </a:xfrm>
          <a:custGeom>
            <a:avLst/>
            <a:gdLst/>
            <a:ahLst/>
            <a:cxnLst/>
            <a:rect l="l" t="t" r="r" b="b"/>
            <a:pathLst>
              <a:path w="2316659" h="354794">
                <a:moveTo>
                  <a:pt x="281583" y="0"/>
                </a:moveTo>
                <a:lnTo>
                  <a:pt x="2035076" y="0"/>
                </a:lnTo>
                <a:cubicBezTo>
                  <a:pt x="2190590" y="0"/>
                  <a:pt x="2316659" y="79423"/>
                  <a:pt x="2316659" y="177397"/>
                </a:cubicBezTo>
                <a:lnTo>
                  <a:pt x="2316659" y="177397"/>
                </a:lnTo>
                <a:cubicBezTo>
                  <a:pt x="2316659" y="275370"/>
                  <a:pt x="2190590" y="354794"/>
                  <a:pt x="2035076" y="354794"/>
                </a:cubicBezTo>
                <a:lnTo>
                  <a:pt x="281583" y="354794"/>
                </a:lnTo>
                <a:cubicBezTo>
                  <a:pt x="126069" y="354794"/>
                  <a:pt x="0" y="275370"/>
                  <a:pt x="0" y="177397"/>
                </a:cubicBezTo>
                <a:lnTo>
                  <a:pt x="0" y="177397"/>
                </a:lnTo>
                <a:cubicBezTo>
                  <a:pt x="0" y="79423"/>
                  <a:pt x="126069" y="0"/>
                  <a:pt x="281583" y="0"/>
                </a:cubicBezTo>
                <a:close/>
              </a:path>
            </a:pathLst>
          </a:custGeom>
          <a:solidFill>
            <a:srgbClr val="4347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971800" y="3136900"/>
            <a:ext cx="861645" cy="354794"/>
          </a:xfrm>
          <a:custGeom>
            <a:avLst/>
            <a:gdLst/>
            <a:ahLst/>
            <a:cxnLst/>
            <a:rect l="l" t="t" r="r" b="b"/>
            <a:pathLst>
              <a:path w="861645" h="354794">
                <a:moveTo>
                  <a:pt x="104731" y="0"/>
                </a:moveTo>
                <a:lnTo>
                  <a:pt x="756915" y="0"/>
                </a:lnTo>
                <a:cubicBezTo>
                  <a:pt x="814757" y="0"/>
                  <a:pt x="861645" y="79423"/>
                  <a:pt x="861645" y="177397"/>
                </a:cubicBezTo>
                <a:lnTo>
                  <a:pt x="861645" y="177397"/>
                </a:lnTo>
                <a:cubicBezTo>
                  <a:pt x="861645" y="275370"/>
                  <a:pt x="814757" y="354794"/>
                  <a:pt x="756915" y="354794"/>
                </a:cubicBezTo>
                <a:lnTo>
                  <a:pt x="104731" y="354794"/>
                </a:lnTo>
                <a:cubicBezTo>
                  <a:pt x="46890" y="354794"/>
                  <a:pt x="0" y="275370"/>
                  <a:pt x="0" y="177397"/>
                </a:cubicBezTo>
                <a:lnTo>
                  <a:pt x="0" y="177397"/>
                </a:lnTo>
                <a:cubicBezTo>
                  <a:pt x="0" y="79423"/>
                  <a:pt x="46890" y="0"/>
                  <a:pt x="104731" y="0"/>
                </a:cubicBezTo>
                <a:close/>
              </a:path>
            </a:pathLst>
          </a:custGeom>
          <a:solidFill>
            <a:srgbClr val="4347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641600" y="3124200"/>
            <a:ext cx="15240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ctr">
              <a:lnSpc>
                <a:spcPct val="116666"/>
              </a:lnSpc>
              <a:spcBef>
                <a:spcPts val="375"/>
              </a:spcBef>
              <a:defRPr/>
            </a:pPr>
            <a:r>
              <a:rPr lang="zh-CN" altLang="en-US" sz="1200" b="1" dirty="0">
                <a:solidFill>
                  <a:srgbClr val="FFFFFF"/>
                </a:solidFill>
                <a:latin typeface="微软雅黑"/>
                <a:ea typeface="微软雅黑"/>
                <a:sym typeface="微软雅黑"/>
              </a:rPr>
              <a:t>陈庭宇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4432300" y="3124200"/>
            <a:ext cx="23622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ctr">
              <a:lnSpc>
                <a:spcPct val="116666"/>
              </a:lnSpc>
              <a:spcBef>
                <a:spcPts val="375"/>
              </a:spcBef>
              <a:defRPr/>
            </a:pPr>
            <a:r>
              <a:rPr lang="en-US" sz="1200" b="1" i="0" u="none" strike="noStrike" dirty="0" err="1">
                <a:solidFill>
                  <a:srgbClr val="EDF1FF"/>
                </a:solidFill>
                <a:latin typeface="微软雅黑"/>
                <a:ea typeface="微软雅黑"/>
                <a:cs typeface="微软雅黑"/>
                <a:sym typeface="微软雅黑"/>
              </a:rPr>
              <a:t>机器视觉设计与实践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2032000" y="762000"/>
            <a:ext cx="5080000" cy="1295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000" b="1" i="0" u="none" strike="noStrike" dirty="0" err="1">
                <a:solidFill>
                  <a:srgbClr val="23252D"/>
                </a:solidFill>
                <a:latin typeface="微软雅黑"/>
                <a:ea typeface="微软雅黑"/>
                <a:cs typeface="微软雅黑"/>
                <a:sym typeface="微软雅黑"/>
              </a:rPr>
              <a:t>感谢各位聆听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2000" b="0" i="0" u="none" strike="noStrike" dirty="0" err="1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欢迎批评指正</a:t>
            </a:r>
            <a:endParaRPr lang="en-US" sz="2000" b="0" i="0" u="none" strike="noStrike" dirty="0">
              <a:solidFill>
                <a:srgbClr val="374151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488" b="488"/>
          <a:stretch>
            <a:fillRect/>
          </a:stretch>
        </p:blipFill>
        <p:spPr>
          <a:xfrm>
            <a:off x="6781800" y="4152900"/>
            <a:ext cx="20828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t="451" b="451"/>
          <a:stretch>
            <a:fillRect/>
          </a:stretch>
        </p:blipFill>
        <p:spPr>
          <a:xfrm>
            <a:off x="457200" y="4381500"/>
            <a:ext cx="1765300" cy="431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rcRect l="108" r="108"/>
          <a:stretch>
            <a:fillRect/>
          </a:stretch>
        </p:blipFill>
        <p:spPr>
          <a:xfrm>
            <a:off x="2489200" y="3797300"/>
            <a:ext cx="2146300" cy="161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727700" y="4095750"/>
            <a:ext cx="863600" cy="863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53DAAFF-CF1C-1A09-44C2-C67FDD604B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726" y="3317239"/>
            <a:ext cx="2300474" cy="120774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3028</Words>
  <Application>Microsoft Office PowerPoint</Application>
  <PresentationFormat>全屏显示(16:9)</PresentationFormat>
  <Paragraphs>435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Noto Sans SC</vt:lpstr>
      <vt:lpstr>system-ui</vt:lpstr>
      <vt:lpstr>ui-monospace</vt:lpstr>
      <vt:lpstr>等线</vt:lpstr>
      <vt:lpstr>微软雅黑</vt:lpstr>
      <vt:lpstr>Arial</vt:lpstr>
      <vt:lpstr>Calibri</vt:lpstr>
      <vt:lpstr>Cambria Math</vt:lpstr>
      <vt:lpstr>Consolas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庭宇 陈</cp:lastModifiedBy>
  <cp:revision>57</cp:revision>
  <dcterms:modified xsi:type="dcterms:W3CDTF">2026-05-18T06:19:18Z</dcterms:modified>
</cp:coreProperties>
</file>